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3" r:id="rId1"/>
  </p:sldMasterIdLst>
  <p:notesMasterIdLst>
    <p:notesMasterId r:id="rId25"/>
  </p:notesMasterIdLst>
  <p:sldIdLst>
    <p:sldId id="285" r:id="rId2"/>
    <p:sldId id="287" r:id="rId3"/>
    <p:sldId id="329" r:id="rId4"/>
    <p:sldId id="330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3" r:id="rId19"/>
    <p:sldId id="384" r:id="rId20"/>
    <p:sldId id="386" r:id="rId21"/>
    <p:sldId id="380" r:id="rId22"/>
    <p:sldId id="382" r:id="rId23"/>
    <p:sldId id="366" r:id="rId24"/>
  </p:sldIdLst>
  <p:sldSz cx="12192000" cy="6858000"/>
  <p:notesSz cx="6858000" cy="9144000"/>
  <p:defaultTextStyle>
    <a:defPPr>
      <a:defRPr lang="en-US"/>
    </a:defPPr>
    <a:lvl1pPr algn="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5F5F5F"/>
    <a:srgbClr val="808080"/>
    <a:srgbClr val="000000"/>
    <a:srgbClr val="CC0000"/>
    <a:srgbClr val="5EB4B4"/>
    <a:srgbClr val="488FD6"/>
    <a:srgbClr val="86B5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>
      <p:cViewPr varScale="1">
        <p:scale>
          <a:sx n="87" d="100"/>
          <a:sy n="87" d="100"/>
        </p:scale>
        <p:origin x="4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altLang="zh-CN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1044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44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44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altLang="zh-CN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fld id="{865FB784-6F92-4A06-818E-F0E0C06F9DA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59965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8001001" y="6286500"/>
            <a:ext cx="3102113" cy="441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5" rIns="91431" bIns="45715">
            <a:spAutoFit/>
          </a:bodyPr>
          <a:lstStyle>
            <a:lvl1pPr algn="r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algn="r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algn="r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algn="r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algn="r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>
              <a:buFont typeface="Arial" pitchFamily="34" charset="0"/>
              <a:buNone/>
              <a:defRPr/>
            </a:pPr>
            <a:r>
              <a:rPr lang="zh-CN" altLang="en-US" sz="2267" smtClean="0">
                <a:solidFill>
                  <a:srgbClr val="1F497D"/>
                </a:solidFill>
                <a:latin typeface="华文中宋" pitchFamily="2" charset="-122"/>
                <a:ea typeface="华文中宋" pitchFamily="2" charset="-122"/>
              </a:rPr>
              <a:t>计算机科学与工程学院</a:t>
            </a:r>
          </a:p>
        </p:txBody>
      </p:sp>
      <p:pic>
        <p:nvPicPr>
          <p:cNvPr id="5" name="图片 7" descr="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126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52464" y="2143117"/>
            <a:ext cx="10363200" cy="12144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469" y="4000505"/>
            <a:ext cx="8534400" cy="9286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6658421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 flipV="1">
            <a:off x="46568" y="3139018"/>
            <a:ext cx="12145433" cy="61383"/>
          </a:xfrm>
          <a:prstGeom prst="rect">
            <a:avLst/>
          </a:prstGeom>
          <a:solidFill>
            <a:srgbClr val="1D77C9"/>
          </a:solidFill>
          <a:ln>
            <a:noFill/>
          </a:ln>
        </p:spPr>
        <p:txBody>
          <a:bodyPr lIns="91431" tIns="45715" rIns="91431" bIns="45715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sz="28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endParaRPr lang="zh-CN" altLang="en-US" sz="2800" b="0">
              <a:solidFill>
                <a:prstClr val="black"/>
              </a:solidFill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1167" y="1744133"/>
            <a:ext cx="12192000" cy="1253067"/>
          </a:xfrm>
          <a:prstGeom prst="rect">
            <a:avLst/>
          </a:prstGeom>
          <a:solidFill>
            <a:srgbClr val="1D77C9"/>
          </a:solidFill>
          <a:ln>
            <a:noFill/>
          </a:ln>
        </p:spPr>
        <p:txBody>
          <a:bodyPr lIns="91431" tIns="45715" rIns="91431" bIns="45715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sz="28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endParaRPr lang="zh-CN" altLang="en-US" sz="2800" b="0">
              <a:solidFill>
                <a:prstClr val="black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1916835"/>
            <a:ext cx="11137237" cy="897235"/>
          </a:xfrm>
        </p:spPr>
        <p:txBody>
          <a:bodyPr/>
          <a:lstStyle>
            <a:lvl1pPr>
              <a:defRPr sz="4000" b="0" baseline="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2"/>
          </p:nvPr>
        </p:nvSpPr>
        <p:spPr>
          <a:xfrm>
            <a:off x="2458577" y="3573017"/>
            <a:ext cx="7657537" cy="647700"/>
          </a:xfrm>
        </p:spPr>
        <p:txBody>
          <a:bodyPr/>
          <a:lstStyle>
            <a:lvl1pPr marL="0" indent="0" algn="ctr">
              <a:buNone/>
              <a:defRPr b="1" baseline="0">
                <a:solidFill>
                  <a:srgbClr val="FF0000"/>
                </a:solidFill>
              </a:defRPr>
            </a:lvl1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77837431"/>
      </p:ext>
    </p:extLst>
  </p:cSld>
  <p:clrMapOvr>
    <a:masterClrMapping/>
  </p:clrMapOvr>
  <p:transition spd="med">
    <p:random/>
  </p:transition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 descr="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785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0" y="6500836"/>
            <a:ext cx="8001000" cy="21431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tx2">
                  <a:lumMod val="60000"/>
                  <a:lumOff val="40000"/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1431" tIns="45715" rIns="91431" bIns="45715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2800" b="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001000" y="6417733"/>
            <a:ext cx="3116541" cy="40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5" rIns="91431" bIns="45715">
            <a:spAutoFit/>
          </a:bodyPr>
          <a:lstStyle>
            <a:lvl1pPr algn="r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algn="r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algn="r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algn="r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algn="r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>
              <a:buFont typeface="Arial" pitchFamily="34" charset="0"/>
              <a:buNone/>
              <a:defRPr/>
            </a:pPr>
            <a:r>
              <a:rPr lang="en-US" altLang="zh-CN" sz="2000" dirty="0" smtClean="0">
                <a:solidFill>
                  <a:srgbClr val="1F497D"/>
                </a:solidFill>
                <a:latin typeface="华文中宋" pitchFamily="2" charset="-122"/>
                <a:ea typeface="华文中宋" pitchFamily="2" charset="-122"/>
              </a:rPr>
              <a:t>Python</a:t>
            </a:r>
            <a:r>
              <a:rPr lang="zh-CN" altLang="en-US" sz="2000" dirty="0" smtClean="0">
                <a:solidFill>
                  <a:srgbClr val="1F497D"/>
                </a:solidFill>
                <a:latin typeface="华文中宋" pitchFamily="2" charset="-122"/>
                <a:ea typeface="华文中宋" pitchFamily="2" charset="-122"/>
              </a:rPr>
              <a:t>数据分析与可视化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3500" y="285728"/>
            <a:ext cx="8798781" cy="500067"/>
          </a:xfrm>
        </p:spPr>
        <p:txBody>
          <a:bodyPr>
            <a:noAutofit/>
          </a:bodyPr>
          <a:lstStyle>
            <a:lvl1pPr>
              <a:defRPr sz="3067" b="1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211" y="1500176"/>
            <a:ext cx="10972800" cy="4525963"/>
          </a:xfrm>
        </p:spPr>
        <p:txBody>
          <a:bodyPr/>
          <a:lstStyle>
            <a:lvl1pPr marL="340775" indent="-340775">
              <a:lnSpc>
                <a:spcPts val="4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 sz="2933"/>
            </a:lvl1pPr>
            <a:lvl2pPr>
              <a:lnSpc>
                <a:spcPts val="4000"/>
              </a:lnSpc>
              <a:defRPr/>
            </a:lvl2pPr>
            <a:lvl3pPr marL="1140855" indent="-226478">
              <a:lnSpc>
                <a:spcPts val="4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defRPr sz="2667"/>
            </a:lvl3pPr>
            <a:lvl4pPr>
              <a:lnSpc>
                <a:spcPts val="4000"/>
              </a:lnSpc>
              <a:defRPr/>
            </a:lvl4pPr>
            <a:lvl5pPr>
              <a:lnSpc>
                <a:spcPts val="4000"/>
              </a:lnSpc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日期占位符 8"/>
          <p:cNvSpPr>
            <a:spLocks noGrp="1"/>
          </p:cNvSpPr>
          <p:nvPr>
            <p:ph type="dt" sz="quarter" idx="10"/>
          </p:nvPr>
        </p:nvSpPr>
        <p:spPr>
          <a:xfrm>
            <a:off x="1" y="6500284"/>
            <a:ext cx="2927351" cy="237067"/>
          </a:xfrm>
        </p:spPr>
        <p:txBody>
          <a:bodyPr wrap="square" numCol="1" anchorCtr="0" compatLnSpc="1"/>
          <a:lstStyle>
            <a:lvl1pPr algn="r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898989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4/4/2022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709982"/>
      </p:ext>
    </p:extLst>
  </p:cSld>
  <p:clrMapOvr>
    <a:masterClrMapping/>
  </p:clrMapOvr>
  <p:transition spd="med">
    <p:random/>
  </p:transition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381" y="1124745"/>
            <a:ext cx="10972800" cy="4525963"/>
          </a:xfrm>
        </p:spPr>
        <p:txBody>
          <a:bodyPr/>
          <a:lstStyle>
            <a:lvl1pPr>
              <a:buClr>
                <a:srgbClr val="FF0000"/>
              </a:buClr>
              <a:buFont typeface="Wingdings" panose="05000000000000000000" pitchFamily="2" charset="2"/>
              <a:buChar char="n"/>
              <a:defRPr sz="2667"/>
            </a:lvl1pPr>
            <a:lvl2pPr>
              <a:buClr>
                <a:srgbClr val="660033"/>
              </a:buClr>
              <a:buFont typeface="Wingdings" panose="05000000000000000000" pitchFamily="2" charset="2"/>
              <a:buChar char="Ø"/>
              <a:defRPr sz="2400"/>
            </a:lvl2pPr>
            <a:lvl3pPr>
              <a:buClr>
                <a:srgbClr val="C00000"/>
              </a:buClr>
              <a:buFont typeface="Wingdings" panose="05000000000000000000" pitchFamily="2" charset="2"/>
              <a:buChar char="Ø"/>
              <a:defRPr/>
            </a:lvl3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日期占位符 8"/>
          <p:cNvSpPr>
            <a:spLocks noGrp="1"/>
          </p:cNvSpPr>
          <p:nvPr>
            <p:ph type="dt" sz="half" idx="10"/>
          </p:nvPr>
        </p:nvSpPr>
        <p:spPr>
          <a:xfrm>
            <a:off x="609600" y="6525685"/>
            <a:ext cx="2844800" cy="196849"/>
          </a:xfrm>
        </p:spPr>
        <p:txBody>
          <a:bodyPr/>
          <a:lstStyle>
            <a:lvl1pPr>
              <a:defRPr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5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453717"/>
            <a:ext cx="2844800" cy="268816"/>
          </a:xfrm>
        </p:spPr>
        <p:txBody>
          <a:bodyPr/>
          <a:lstStyle>
            <a:lvl1pPr>
              <a:buFontTx/>
              <a:buNone/>
              <a:defRPr b="1"/>
            </a:lvl1pPr>
          </a:lstStyle>
          <a:p>
            <a:fld id="{6ACF7D23-951D-4399-9FEA-F8B2DF1A114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页脚占位符 10"/>
          <p:cNvSpPr>
            <a:spLocks noGrp="1"/>
          </p:cNvSpPr>
          <p:nvPr>
            <p:ph type="ftr" sz="quarter" idx="12"/>
          </p:nvPr>
        </p:nvSpPr>
        <p:spPr>
          <a:xfrm>
            <a:off x="4165600" y="6525685"/>
            <a:ext cx="3860800" cy="196849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05980"/>
      </p:ext>
    </p:extLst>
  </p:cSld>
  <p:clrMapOvr>
    <a:masterClrMapping/>
  </p:clrMapOvr>
  <p:transition spd="med">
    <p:random/>
  </p:transition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1524001" y="275168"/>
            <a:ext cx="7810500" cy="726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3" tIns="34286" rIns="68573" bIns="3428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73" tIns="34286" rIns="68573" bIns="342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68573" tIns="34286" rIns="68573" bIns="34286" rtlCol="0" anchor="ctr"/>
          <a:lstStyle>
            <a:lvl1pPr algn="l" eaLnBrk="0" fontAlgn="auto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fld id="{C764DE79-268F-4C1A-8933-263129D2AF90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wrap="square" lIns="68573" tIns="34286" rIns="68573" bIns="34286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charset="0"/>
              <a:buNone/>
              <a:defRPr sz="1200" b="0" dirty="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68573" tIns="34286" rIns="68573" bIns="34286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 b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6ACF7D23-951D-4399-9FEA-F8B2DF1A114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113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transition spd="med">
    <p:random/>
  </p:transition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0775" indent="-3407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0815" indent="-28362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0855" indent="-22647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598044" indent="-22647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233" indent="-22647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8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68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685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87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600" b="1" dirty="0">
                <a:ea typeface="宋体" panose="02010600030101010101" pitchFamily="2" charset="-122"/>
              </a:rPr>
              <a:t>Python</a:t>
            </a:r>
            <a:r>
              <a:rPr lang="zh-CN" altLang="en-US" sz="4600" b="1" dirty="0">
                <a:ea typeface="宋体" panose="02010600030101010101" pitchFamily="2" charset="-122"/>
              </a:rPr>
              <a:t>数据分析与可视化</a:t>
            </a:r>
            <a:endParaRPr lang="en-US" altLang="zh-CN" sz="4600" b="1" dirty="0">
              <a:ea typeface="宋体" panose="02010600030101010101" pitchFamily="2" charset="-122"/>
            </a:endParaRPr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zh-CN" sz="3600" dirty="0"/>
              <a:t>第</a:t>
            </a:r>
            <a:r>
              <a:rPr lang="en-US" altLang="zh-CN" sz="3600" dirty="0"/>
              <a:t> 8 </a:t>
            </a:r>
            <a:r>
              <a:rPr lang="zh-CN" altLang="zh-CN" sz="3600" dirty="0"/>
              <a:t>章 </a:t>
            </a:r>
            <a:r>
              <a:rPr lang="en-US" altLang="zh-CN" sz="3600" dirty="0" err="1"/>
              <a:t>pyecharts</a:t>
            </a:r>
            <a:r>
              <a:rPr lang="zh-CN" altLang="zh-CN" sz="3600" dirty="0"/>
              <a:t>可视化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 </a:t>
            </a:r>
            <a:r>
              <a:rPr lang="en-US" altLang="zh-CN" dirty="0" smtClean="0"/>
              <a:t>8 </a:t>
            </a:r>
            <a:r>
              <a:rPr lang="zh-CN" altLang="en-US" dirty="0" smtClean="0"/>
              <a:t>章 </a:t>
            </a:r>
            <a:r>
              <a:rPr lang="en-US" altLang="zh-CN" dirty="0" err="1"/>
              <a:t>pyecharts</a:t>
            </a:r>
            <a:r>
              <a:rPr lang="zh-CN" altLang="zh-CN" dirty="0"/>
              <a:t>可视化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196752"/>
            <a:ext cx="10009112" cy="1224136"/>
          </a:xfrm>
        </p:spPr>
        <p:txBody>
          <a:bodyPr/>
          <a:lstStyle/>
          <a:p>
            <a:r>
              <a:rPr lang="en-US" altLang="zh-CN" sz="2500" dirty="0" err="1"/>
              <a:t>pyecharts</a:t>
            </a:r>
            <a:r>
              <a:rPr lang="zh-CN" altLang="zh-CN" sz="2500" dirty="0"/>
              <a:t>是基于</a:t>
            </a:r>
            <a:r>
              <a:rPr lang="en-US" altLang="zh-CN" sz="2500" dirty="0" err="1"/>
              <a:t>Echart</a:t>
            </a:r>
            <a:r>
              <a:rPr lang="zh-CN" altLang="zh-CN" sz="2500" dirty="0"/>
              <a:t>图表的一个类库，而</a:t>
            </a:r>
            <a:r>
              <a:rPr lang="en-US" altLang="zh-CN" sz="2500" dirty="0" err="1"/>
              <a:t>Echart</a:t>
            </a:r>
            <a:r>
              <a:rPr lang="zh-CN" altLang="zh-CN" sz="2500" dirty="0"/>
              <a:t>是百度开源的一个可视化</a:t>
            </a:r>
            <a:r>
              <a:rPr lang="en-US" altLang="zh-CN" sz="2500" dirty="0"/>
              <a:t>JavaScript</a:t>
            </a:r>
            <a:r>
              <a:rPr lang="zh-CN" altLang="zh-CN" sz="2500" dirty="0"/>
              <a:t>库</a:t>
            </a:r>
            <a:r>
              <a:rPr lang="zh-CN" altLang="zh-CN" sz="2500" dirty="0" smtClean="0"/>
              <a:t>。</a:t>
            </a:r>
            <a:endParaRPr lang="en-US" altLang="zh-CN" sz="2500" dirty="0" smtClean="0"/>
          </a:p>
          <a:p>
            <a:endParaRPr lang="zh-CN" altLang="en-US" sz="250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1199456" y="2564905"/>
            <a:ext cx="10081120" cy="3113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1300"/>
              </a:spcBef>
              <a:spcAft>
                <a:spcPts val="1300"/>
              </a:spcAft>
            </a:pPr>
            <a:r>
              <a:rPr lang="x-none" altLang="zh-CN" sz="2200" dirty="0">
                <a:latin typeface="Times New Roman" panose="02020603050405020304" pitchFamily="18" charset="0"/>
              </a:rPr>
              <a:t>8.1 pyecharts</a:t>
            </a:r>
            <a:r>
              <a:rPr lang="x-none" altLang="zh-CN" sz="2200" dirty="0">
                <a:latin typeface="宋体" panose="02010600030101010101" pitchFamily="2" charset="-122"/>
              </a:rPr>
              <a:t>简介</a:t>
            </a:r>
            <a:endParaRPr lang="zh-CN" altLang="zh-CN" sz="2200" dirty="0">
              <a:latin typeface="Cambria" panose="02040503050406030204" pitchFamily="18" charset="0"/>
            </a:endParaRPr>
          </a:p>
          <a:p>
            <a:pPr indent="325120" algn="l">
              <a:lnSpc>
                <a:spcPct val="150000"/>
              </a:lnSpc>
              <a:spcAft>
                <a:spcPts val="0"/>
              </a:spcAft>
            </a:pPr>
            <a:r>
              <a:rPr lang="en-US" altLang="zh-CN" sz="2200" b="0" kern="100" spc="4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pyecharts</a:t>
            </a:r>
            <a:r>
              <a:rPr lang="zh-CN" altLang="zh-CN" sz="2200" b="0" kern="100" spc="40" dirty="0">
                <a:latin typeface="Times New Roman" panose="02020603050405020304" pitchFamily="18" charset="0"/>
                <a:ea typeface="宋体" panose="02010600030101010101" pitchFamily="2" charset="-122"/>
              </a:rPr>
              <a:t>主要基于</a:t>
            </a:r>
            <a:r>
              <a:rPr lang="en-US" altLang="zh-CN" sz="2200" b="0" kern="100" spc="40" dirty="0"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zh-CN" sz="2200" b="0" kern="100" spc="40" dirty="0">
                <a:latin typeface="Times New Roman" panose="02020603050405020304" pitchFamily="18" charset="0"/>
                <a:ea typeface="宋体" panose="02010600030101010101" pitchFamily="2" charset="-122"/>
              </a:rPr>
              <a:t>浏览器进行显示，绘制的图形比较多，包括折线图、柱状图、饼图、漏斗图、地图、极坐标图等，代码量很少，而且很灵活，绘制出来的图形很美观</a:t>
            </a:r>
            <a:r>
              <a:rPr lang="zh-CN" altLang="zh-CN" sz="2200" b="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indent="304800" algn="l">
              <a:lnSpc>
                <a:spcPct val="150000"/>
              </a:lnSpc>
              <a:spcAft>
                <a:spcPts val="0"/>
              </a:spcAft>
            </a:pPr>
            <a:r>
              <a:rPr lang="zh-CN" altLang="zh-CN" sz="2200" b="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200" b="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pyecharts</a:t>
            </a:r>
            <a:r>
              <a:rPr lang="zh-CN" altLang="zh-CN" sz="2200" b="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时，需要安装相应的库，安装命令为：</a:t>
            </a:r>
          </a:p>
          <a:p>
            <a:pPr algn="l"/>
            <a:r>
              <a:rPr lang="en-US" altLang="zh-CN" sz="2200" b="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600" b="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pip </a:t>
            </a:r>
            <a:r>
              <a:rPr lang="en-US" altLang="zh-CN" sz="2600" b="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install </a:t>
            </a:r>
            <a:r>
              <a:rPr lang="en-US" altLang="zh-CN" sz="2600" b="0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pyecharts</a:t>
            </a:r>
            <a:endParaRPr lang="zh-CN" altLang="en-US" sz="26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23450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hangingPunct="0">
              <a:lnSpc>
                <a:spcPct val="150000"/>
              </a:lnSpc>
            </a:pPr>
            <a:r>
              <a:rPr lang="zh-CN" altLang="zh-CN" dirty="0">
                <a:cs typeface="Times New Roman" panose="02020603050405020304" pitchFamily="18" charset="0"/>
              </a:rPr>
              <a:t>8</a:t>
            </a:r>
            <a:r>
              <a:rPr lang="zh-CN" altLang="zh-CN" dirty="0" bmk="">
                <a:cs typeface="Times New Roman" panose="02020603050405020304" pitchFamily="18" charset="0"/>
              </a:rPr>
              <a:t>.2 pyecharts</a:t>
            </a:r>
            <a:r>
              <a:rPr lang="zh-CN" altLang="zh-CN" dirty="0" bmk="_Toc25680720"/>
              <a:t>的使用方法</a:t>
            </a:r>
            <a:endParaRPr lang="zh-CN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3</a:t>
            </a:fld>
            <a:endParaRPr lang="en-US" altLang="zh-CN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959694"/>
              </p:ext>
            </p:extLst>
          </p:nvPr>
        </p:nvGraphicFramePr>
        <p:xfrm>
          <a:off x="2135560" y="2708920"/>
          <a:ext cx="8231832" cy="2376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31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6264">
                <a:tc>
                  <a:txBody>
                    <a:bodyPr/>
                    <a:lstStyle/>
                    <a:p>
                      <a:pPr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 err="1">
                          <a:effectLst/>
                        </a:rPr>
                        <a:t>chart_name</a:t>
                      </a:r>
                      <a:r>
                        <a:rPr lang="en-US" sz="2200" kern="100" dirty="0">
                          <a:effectLst/>
                        </a:rPr>
                        <a:t> = Type()      #</a:t>
                      </a:r>
                      <a:r>
                        <a:rPr lang="zh-CN" sz="2200" kern="100" dirty="0">
                          <a:effectLst/>
                        </a:rPr>
                        <a:t>初始化具体类型图表</a:t>
                      </a:r>
                    </a:p>
                    <a:p>
                      <a:pPr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 err="1">
                          <a:effectLst/>
                        </a:rPr>
                        <a:t>chart_name</a:t>
                      </a:r>
                      <a:r>
                        <a:rPr lang="en-US" sz="2200" kern="100" dirty="0">
                          <a:effectLst/>
                        </a:rPr>
                        <a:t> .add()         #</a:t>
                      </a:r>
                      <a:r>
                        <a:rPr lang="zh-CN" sz="2200" kern="100" dirty="0">
                          <a:effectLst/>
                        </a:rPr>
                        <a:t>添加数据及配置项</a:t>
                      </a:r>
                    </a:p>
                    <a:p>
                      <a:pPr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 err="1">
                          <a:effectLst/>
                        </a:rPr>
                        <a:t>chart_name</a:t>
                      </a:r>
                      <a:r>
                        <a:rPr lang="en-US" sz="2200" kern="100" dirty="0">
                          <a:effectLst/>
                        </a:rPr>
                        <a:t> .render() </a:t>
                      </a:r>
                      <a:endParaRPr lang="en-US" sz="2200" kern="100" dirty="0" smtClean="0">
                        <a:effectLst/>
                      </a:endParaRPr>
                    </a:p>
                    <a:p>
                      <a:pPr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</a:rPr>
                        <a:t>#</a:t>
                      </a:r>
                      <a:r>
                        <a:rPr lang="zh-CN" sz="2200" kern="100" dirty="0">
                          <a:effectLst/>
                        </a:rPr>
                        <a:t>生成本地文件（</a:t>
                      </a:r>
                      <a:r>
                        <a:rPr lang="en-US" sz="2200" kern="100" dirty="0">
                          <a:effectLst/>
                        </a:rPr>
                        <a:t>html/</a:t>
                      </a:r>
                      <a:r>
                        <a:rPr lang="en-US" sz="2200" kern="100" dirty="0" err="1">
                          <a:effectLst/>
                        </a:rPr>
                        <a:t>svg</a:t>
                      </a:r>
                      <a:r>
                        <a:rPr lang="en-US" sz="2200" kern="100" dirty="0">
                          <a:effectLst/>
                        </a:rPr>
                        <a:t>/jpeg/</a:t>
                      </a:r>
                      <a:r>
                        <a:rPr lang="en-US" sz="2200" kern="100" dirty="0" err="1">
                          <a:effectLst/>
                        </a:rPr>
                        <a:t>png</a:t>
                      </a:r>
                      <a:r>
                        <a:rPr lang="en-US" sz="2200" kern="100" dirty="0">
                          <a:effectLst/>
                        </a:rPr>
                        <a:t>/pdf/gif</a:t>
                      </a:r>
                      <a:r>
                        <a:rPr lang="zh-CN" sz="2200" kern="100" dirty="0">
                          <a:effectLst/>
                        </a:rPr>
                        <a:t>）</a:t>
                      </a:r>
                    </a:p>
                    <a:p>
                      <a:pPr algn="just">
                        <a:lnSpc>
                          <a:spcPct val="14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 err="1">
                          <a:effectLst/>
                        </a:rPr>
                        <a:t>chart_name</a:t>
                      </a:r>
                      <a:r>
                        <a:rPr lang="en-US" sz="2200" kern="100" dirty="0">
                          <a:effectLst/>
                        </a:rPr>
                        <a:t> .</a:t>
                      </a:r>
                      <a:r>
                        <a:rPr lang="en-US" sz="2200" kern="100" dirty="0" err="1">
                          <a:effectLst/>
                        </a:rPr>
                        <a:t>render_notebook</a:t>
                      </a:r>
                      <a:r>
                        <a:rPr lang="en-US" sz="2200" kern="100" dirty="0">
                          <a:effectLst/>
                        </a:rPr>
                        <a:t>  #</a:t>
                      </a:r>
                      <a:r>
                        <a:rPr lang="zh-CN" sz="2200" kern="100" dirty="0">
                          <a:effectLst/>
                        </a:rPr>
                        <a:t>在</a:t>
                      </a:r>
                      <a:r>
                        <a:rPr lang="en-US" sz="2200" kern="100" dirty="0" err="1">
                          <a:effectLst/>
                        </a:rPr>
                        <a:t>jupyter</a:t>
                      </a:r>
                      <a:r>
                        <a:rPr lang="en-US" sz="2200" kern="100" dirty="0">
                          <a:effectLst/>
                        </a:rPr>
                        <a:t> notebook</a:t>
                      </a:r>
                      <a:r>
                        <a:rPr lang="zh-CN" sz="2200" kern="100" dirty="0">
                          <a:effectLst/>
                        </a:rPr>
                        <a:t>中显示</a:t>
                      </a:r>
                      <a:endParaRPr lang="zh-CN" sz="2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956048" y="1408604"/>
            <a:ext cx="8028384" cy="78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65048" rIns="91440" bIns="165048" numCol="1" anchor="ctr" anchorCtr="0" compatLnSpc="1">
            <a:prstTxWarp prst="textNoShape">
              <a:avLst/>
            </a:prstTxWarp>
            <a:spAutoFit/>
          </a:bodyPr>
          <a:lstStyle>
            <a:lvl1pPr indent="304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en-US" sz="23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图形绘制过程，基本上所有的图表类型都是这样绘制的：</a:t>
            </a:r>
            <a:endParaRPr lang="zh-CN" altLang="en-US" sz="23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411059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4</a:t>
            </a:fld>
            <a:endParaRPr lang="en-US" altLang="zh-CN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463655"/>
              </p:ext>
            </p:extLst>
          </p:nvPr>
        </p:nvGraphicFramePr>
        <p:xfrm>
          <a:off x="2063552" y="2780928"/>
          <a:ext cx="8206352" cy="20240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使用说明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add_xaxis</a:t>
                      </a:r>
                      <a:endParaRPr lang="zh-CN" sz="20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加入</a:t>
                      </a: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轴参数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add_yaxis</a:t>
                      </a:r>
                      <a:endParaRPr lang="zh-CN" sz="20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加入</a:t>
                      </a: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轴参数，可以设置</a:t>
                      </a: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轴参数，也可在全局设置中设置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set_global_opts</a:t>
                      </a:r>
                      <a:endParaRPr lang="zh-CN" sz="20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全局配置设置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set_series_opts</a:t>
                      </a:r>
                      <a:endParaRPr lang="zh-CN" sz="20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系列配置设置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844968" y="866884"/>
            <a:ext cx="8424936" cy="181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65048" rIns="91440" bIns="165048" numCol="1" anchor="ctr" anchorCtr="0" compatLnSpc="1">
            <a:prstTxWarp prst="textNoShape">
              <a:avLst/>
            </a:prstTxWarp>
            <a:spAutoFit/>
          </a:bodyPr>
          <a:lstStyle>
            <a:lvl1pPr indent="304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柱状图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</a:pPr>
            <a:r>
              <a:rPr lang="zh-CN" altLang="en-US" sz="22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Bar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方法可以绘制柱状图。方法及说明见表</a:t>
            </a:r>
            <a:r>
              <a:rPr lang="en-US" altLang="zh-CN" sz="22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8-1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200" b="0" dirty="0"/>
          </a:p>
          <a:p>
            <a:pPr indent="0">
              <a:lnSpc>
                <a:spcPct val="150000"/>
              </a:lnSpc>
            </a:pPr>
            <a:r>
              <a:rPr lang="zh-CN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en-US" altLang="zh-CN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8-1 Bar</a:t>
            </a:r>
            <a:r>
              <a:rPr lang="zh-CN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对象的主要方法及其说明</a:t>
            </a:r>
            <a:endParaRPr lang="zh-CN" altLang="en-US" sz="2000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59564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775520" y="764705"/>
            <a:ext cx="8424936" cy="1256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65048" rIns="91440" bIns="165048" numCol="1" anchor="ctr" anchorCtr="0" compatLnSpc="1">
            <a:prstTxWarp prst="textNoShape">
              <a:avLst/>
            </a:prstTxWarp>
            <a:spAutoFit/>
          </a:bodyPr>
          <a:lstStyle>
            <a:lvl1pPr indent="304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柱状图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</a:pPr>
            <a:r>
              <a:rPr lang="zh-CN" altLang="en-US" sz="20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Bar</a:t>
            </a:r>
            <a:r>
              <a:rPr lang="zh-CN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方法绘制柱状图：</a:t>
            </a:r>
            <a:endParaRPr lang="zh-CN" altLang="en-US" sz="2000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684630"/>
              </p:ext>
            </p:extLst>
          </p:nvPr>
        </p:nvGraphicFramePr>
        <p:xfrm>
          <a:off x="1343472" y="1831467"/>
          <a:ext cx="8355488" cy="43185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7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In[1]: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from </a:t>
                      </a:r>
                      <a:r>
                        <a:rPr lang="en-US" sz="2000" kern="100" dirty="0" err="1">
                          <a:effectLst/>
                        </a:rPr>
                        <a:t>pyecharts.charts</a:t>
                      </a:r>
                      <a:r>
                        <a:rPr lang="en-US" sz="2000" kern="100" dirty="0">
                          <a:effectLst/>
                        </a:rPr>
                        <a:t> import Bar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from </a:t>
                      </a:r>
                      <a:r>
                        <a:rPr lang="en-US" sz="2000" kern="100" dirty="0" err="1">
                          <a:effectLst/>
                        </a:rPr>
                        <a:t>pyecharts</a:t>
                      </a:r>
                      <a:r>
                        <a:rPr lang="en-US" sz="2000" kern="100" dirty="0">
                          <a:effectLst/>
                        </a:rPr>
                        <a:t> import options as opts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%</a:t>
                      </a:r>
                      <a:r>
                        <a:rPr lang="en-US" sz="2000" kern="100" dirty="0" err="1">
                          <a:effectLst/>
                        </a:rPr>
                        <a:t>matplotlib</a:t>
                      </a:r>
                      <a:r>
                        <a:rPr lang="en-US" sz="2000" kern="100" dirty="0">
                          <a:effectLst/>
                        </a:rPr>
                        <a:t> inline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# V1 </a:t>
                      </a:r>
                      <a:r>
                        <a:rPr lang="zh-CN" sz="2000" kern="100" dirty="0">
                          <a:effectLst/>
                        </a:rPr>
                        <a:t>版本开始支持链式调用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bar = ( Bar()</a:t>
                      </a:r>
                      <a:endParaRPr lang="zh-CN" sz="2000" kern="100" dirty="0">
                        <a:effectLst/>
                      </a:endParaRPr>
                    </a:p>
                    <a:p>
                      <a:pPr marL="609600" indent="-6096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.</a:t>
                      </a:r>
                      <a:r>
                        <a:rPr lang="en-US" sz="2000" kern="100" dirty="0" err="1">
                          <a:effectLst/>
                        </a:rPr>
                        <a:t>add_xaxis</a:t>
                      </a:r>
                      <a:r>
                        <a:rPr lang="en-US" sz="2000" kern="100" dirty="0">
                          <a:effectLst/>
                        </a:rPr>
                        <a:t>(["</a:t>
                      </a:r>
                      <a:r>
                        <a:rPr lang="zh-CN" sz="2000" kern="100" dirty="0">
                          <a:effectLst/>
                        </a:rPr>
                        <a:t>衬衫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毛衣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领带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裤子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风衣</a:t>
                      </a:r>
                      <a:r>
                        <a:rPr lang="en-US" sz="2000" kern="100" dirty="0">
                          <a:effectLst/>
                        </a:rPr>
                        <a:t>", </a:t>
                      </a:r>
                      <a:br>
                        <a:rPr lang="en-US" sz="2000" kern="100" dirty="0">
                          <a:effectLst/>
                        </a:rPr>
                      </a:br>
                      <a:r>
                        <a:rPr lang="en-US" sz="2000" kern="100" dirty="0">
                          <a:effectLst/>
                        </a:rPr>
                        <a:t>"</a:t>
                      </a:r>
                      <a:r>
                        <a:rPr lang="zh-CN" sz="2000" kern="100" dirty="0">
                          <a:effectLst/>
                        </a:rPr>
                        <a:t>高跟鞋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袜子</a:t>
                      </a:r>
                      <a:r>
                        <a:rPr lang="en-US" sz="2000" kern="100" dirty="0">
                          <a:effectLst/>
                        </a:rPr>
                        <a:t>"])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.</a:t>
                      </a:r>
                      <a:r>
                        <a:rPr lang="en-US" sz="2000" kern="100" dirty="0" err="1">
                          <a:effectLst/>
                        </a:rPr>
                        <a:t>add_yaxis</a:t>
                      </a:r>
                      <a:r>
                        <a:rPr lang="en-US" sz="2000" kern="100" dirty="0">
                          <a:effectLst/>
                        </a:rPr>
                        <a:t>("</a:t>
                      </a:r>
                      <a:r>
                        <a:rPr lang="zh-CN" sz="2000" kern="100" dirty="0">
                          <a:effectLst/>
                        </a:rPr>
                        <a:t>商家</a:t>
                      </a:r>
                      <a:r>
                        <a:rPr lang="en-US" sz="2000" kern="100" dirty="0">
                          <a:effectLst/>
                        </a:rPr>
                        <a:t>A", [114, 55, 27, 101, 125, 27, 105])</a:t>
                      </a:r>
                      <a:endParaRPr lang="zh-CN" sz="2000" kern="100" dirty="0">
                        <a:effectLst/>
                      </a:endParaRPr>
                    </a:p>
                    <a:p>
                      <a:pPr marL="609600" indent="-609600"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       .</a:t>
                      </a:r>
                      <a:r>
                        <a:rPr lang="en-US" sz="2000" kern="100" dirty="0" err="1">
                          <a:effectLst/>
                        </a:rPr>
                        <a:t>set_global_opts</a:t>
                      </a:r>
                      <a:r>
                        <a:rPr lang="en-US" sz="2000" kern="100" dirty="0">
                          <a:effectLst/>
                        </a:rPr>
                        <a:t>(</a:t>
                      </a:r>
                      <a:r>
                        <a:rPr lang="en-US" sz="2000" kern="100" dirty="0" err="1">
                          <a:effectLst/>
                        </a:rPr>
                        <a:t>title_opts</a:t>
                      </a:r>
                      <a:r>
                        <a:rPr lang="en-US" sz="2000" kern="100" dirty="0">
                          <a:effectLst/>
                        </a:rPr>
                        <a:t> = </a:t>
                      </a:r>
                      <a:r>
                        <a:rPr lang="en-US" sz="2000" kern="100" dirty="0" err="1">
                          <a:effectLst/>
                        </a:rPr>
                        <a:t>opts.TitleOpts</a:t>
                      </a:r>
                      <a:r>
                        <a:rPr lang="en-US" sz="2000" kern="100" dirty="0">
                          <a:effectLst/>
                        </a:rPr>
                        <a:t>(title = "</a:t>
                      </a:r>
                      <a:r>
                        <a:rPr lang="zh-CN" sz="2000" kern="100" dirty="0">
                          <a:effectLst/>
                        </a:rPr>
                        <a:t>某商场销售</a:t>
                      </a:r>
                      <a:r>
                        <a:rPr lang="en-US" sz="2000" kern="100" dirty="0">
                          <a:effectLst/>
                        </a:rPr>
                        <a:t/>
                      </a:r>
                      <a:br>
                        <a:rPr lang="en-US" sz="2000" kern="100" dirty="0">
                          <a:effectLst/>
                        </a:rPr>
                      </a:br>
                      <a:r>
                        <a:rPr lang="zh-CN" sz="2000" kern="100" dirty="0">
                          <a:effectLst/>
                        </a:rPr>
                        <a:t>情况</a:t>
                      </a:r>
                      <a:r>
                        <a:rPr lang="en-US" sz="2000" kern="100" dirty="0">
                          <a:effectLst/>
                        </a:rPr>
                        <a:t>")) )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bar.render_notebook</a:t>
                      </a:r>
                      <a:r>
                        <a:rPr lang="en-US" sz="2000" kern="100" dirty="0">
                          <a:effectLst/>
                        </a:rPr>
                        <a:t>()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#</a:t>
                      </a:r>
                      <a:r>
                        <a:rPr lang="en-US" sz="2000" kern="100" dirty="0" err="1">
                          <a:effectLst/>
                        </a:rPr>
                        <a:t>bar.render</a:t>
                      </a:r>
                      <a:r>
                        <a:rPr lang="en-US" sz="2000" kern="100" dirty="0">
                          <a:effectLst/>
                        </a:rPr>
                        <a:t>() </a:t>
                      </a:r>
                      <a:r>
                        <a:rPr lang="zh-CN" sz="2000" kern="100" dirty="0">
                          <a:effectLst/>
                        </a:rPr>
                        <a:t>生成</a:t>
                      </a:r>
                      <a:r>
                        <a:rPr lang="en-US" sz="2000" kern="100" dirty="0">
                          <a:effectLst/>
                        </a:rPr>
                        <a:t>html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Out[1]: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6670" algn="just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193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52" y="992170"/>
            <a:ext cx="4646646" cy="2290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09934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775520" y="764705"/>
            <a:ext cx="8424936" cy="1256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65048" rIns="91440" bIns="165048" numCol="1" anchor="ctr" anchorCtr="0" compatLnSpc="1">
            <a:prstTxWarp prst="textNoShape">
              <a:avLst/>
            </a:prstTxWarp>
            <a:spAutoFit/>
          </a:bodyPr>
          <a:lstStyle>
            <a:lvl1pPr indent="304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柱状图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</a:pPr>
            <a:endParaRPr lang="zh-CN" altLang="en-US" sz="2000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985654"/>
              </p:ext>
            </p:extLst>
          </p:nvPr>
        </p:nvGraphicFramePr>
        <p:xfrm>
          <a:off x="1820470" y="3027608"/>
          <a:ext cx="8208912" cy="18751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0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bar = Bar()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bar.add_xaxis</a:t>
                      </a:r>
                      <a:r>
                        <a:rPr lang="en-US" sz="2000" kern="100" dirty="0">
                          <a:effectLst/>
                        </a:rPr>
                        <a:t>(["</a:t>
                      </a:r>
                      <a:r>
                        <a:rPr lang="zh-CN" sz="2000" kern="100" dirty="0">
                          <a:effectLst/>
                        </a:rPr>
                        <a:t>衬衫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毛衣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领带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裤子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风衣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高跟鞋</a:t>
                      </a:r>
                      <a:r>
                        <a:rPr lang="en-US" sz="2000" kern="100" dirty="0">
                          <a:effectLst/>
                        </a:rPr>
                        <a:t>", "</a:t>
                      </a:r>
                      <a:r>
                        <a:rPr lang="zh-CN" sz="2000" kern="100" dirty="0">
                          <a:effectLst/>
                        </a:rPr>
                        <a:t>袜子</a:t>
                      </a:r>
                      <a:r>
                        <a:rPr lang="en-US" sz="2000" kern="100" dirty="0">
                          <a:effectLst/>
                        </a:rPr>
                        <a:t>"])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bar.add_yaxis</a:t>
                      </a:r>
                      <a:r>
                        <a:rPr lang="en-US" sz="2000" kern="100" dirty="0">
                          <a:effectLst/>
                        </a:rPr>
                        <a:t>("</a:t>
                      </a:r>
                      <a:r>
                        <a:rPr lang="zh-CN" sz="2000" kern="100" dirty="0">
                          <a:effectLst/>
                        </a:rPr>
                        <a:t>商家</a:t>
                      </a:r>
                      <a:r>
                        <a:rPr lang="en-US" sz="2000" kern="100" dirty="0">
                          <a:effectLst/>
                        </a:rPr>
                        <a:t>A", [114, 55, 27, 101, 125, 27, 105])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bar.set_global_opts</a:t>
                      </a:r>
                      <a:r>
                        <a:rPr lang="en-US" sz="2000" kern="100" dirty="0">
                          <a:effectLst/>
                        </a:rPr>
                        <a:t>(</a:t>
                      </a:r>
                      <a:r>
                        <a:rPr lang="en-US" sz="2000" kern="100" dirty="0" err="1">
                          <a:effectLst/>
                        </a:rPr>
                        <a:t>title_opts</a:t>
                      </a:r>
                      <a:r>
                        <a:rPr lang="en-US" sz="2000" kern="100" dirty="0">
                          <a:effectLst/>
                        </a:rPr>
                        <a:t> = </a:t>
                      </a:r>
                      <a:r>
                        <a:rPr lang="en-US" sz="2000" kern="100" dirty="0" err="1">
                          <a:effectLst/>
                        </a:rPr>
                        <a:t>opts.TitleOpts</a:t>
                      </a:r>
                      <a:r>
                        <a:rPr lang="en-US" sz="2000" kern="100" dirty="0">
                          <a:effectLst/>
                        </a:rPr>
                        <a:t>(title = "</a:t>
                      </a:r>
                      <a:r>
                        <a:rPr lang="zh-CN" sz="2000" kern="100" dirty="0">
                          <a:effectLst/>
                        </a:rPr>
                        <a:t>某商场销售情况</a:t>
                      </a:r>
                      <a:r>
                        <a:rPr lang="en-US" sz="2000" kern="100" dirty="0">
                          <a:effectLst/>
                        </a:rPr>
                        <a:t>"))</a:t>
                      </a:r>
                      <a:endParaRPr lang="zh-CN" sz="2000" kern="100" dirty="0">
                        <a:effectLst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bar.render_notebook</a:t>
                      </a:r>
                      <a:r>
                        <a:rPr lang="en-US" sz="2000" kern="100" dirty="0">
                          <a:effectLst/>
                        </a:rPr>
                        <a:t>()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28988" y="1655371"/>
            <a:ext cx="8991877" cy="9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hangingPunct="0">
              <a:lnSpc>
                <a:spcPct val="150000"/>
              </a:lnSpc>
            </a:pPr>
            <a:r>
              <a:rPr lang="en-US" altLang="zh-CN" sz="2000" b="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</a:t>
            </a:r>
            <a:r>
              <a:rPr lang="zh-CN" altLang="en-US" sz="2000" b="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版本开始支持链式调用，如果不习惯链式调用的开发者依旧可以单独调用方法，上面代码为：</a:t>
            </a:r>
            <a:endParaRPr lang="en-US" altLang="zh-CN" sz="2000" b="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34987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110372" y="777390"/>
            <a:ext cx="8424936" cy="736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65048" rIns="91440" bIns="165048" numCol="1" anchor="ctr" anchorCtr="0" compatLnSpc="1">
            <a:prstTxWarp prst="textNoShape">
              <a:avLst/>
            </a:prstTxWarp>
            <a:spAutoFit/>
          </a:bodyPr>
          <a:lstStyle>
            <a:lvl1pPr indent="304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柱状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endParaRPr lang="zh-CN" altLang="en-US" sz="2000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290900" y="1436155"/>
            <a:ext cx="7740352" cy="911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hangingPunct="0">
              <a:lnSpc>
                <a:spcPct val="150000"/>
              </a:lnSpc>
            </a:pPr>
            <a:r>
              <a:rPr lang="zh-CN" altLang="zh-CN" dirty="0"/>
              <a:t>使用多个</a:t>
            </a:r>
            <a:r>
              <a:rPr lang="en-US" altLang="zh-CN" dirty="0" err="1"/>
              <a:t>add_yaxis</a:t>
            </a:r>
            <a:r>
              <a:rPr lang="zh-CN" altLang="zh-CN" dirty="0"/>
              <a:t>可以绘制并列柱状图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0" algn="l" eaLnBrk="0" hangingPunct="0">
              <a:lnSpc>
                <a:spcPct val="150000"/>
              </a:lnSpc>
            </a:pPr>
            <a:r>
              <a:rPr lang="zh-CN" altLang="en-US" sz="2000" b="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8-2</a:t>
            </a:r>
            <a:r>
              <a:rPr lang="zh-CN" altLang="en-US" sz="20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：并列柱状图绘制。</a:t>
            </a:r>
            <a:endParaRPr lang="zh-CN" altLang="en-US" sz="2000" b="0" dirty="0"/>
          </a:p>
        </p:txBody>
      </p:sp>
      <p:sp>
        <p:nvSpPr>
          <p:cNvPr id="2" name="矩形 1"/>
          <p:cNvSpPr/>
          <p:nvPr/>
        </p:nvSpPr>
        <p:spPr>
          <a:xfrm>
            <a:off x="1091263" y="2680976"/>
            <a:ext cx="8748464" cy="3485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from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pyecharts.charts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import Bar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from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pyecharts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import options as opts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%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matplotlib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inline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bar = Bar()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bar.add_xaxis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(["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衬衫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", 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毛衣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", 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领带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", 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裤子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", 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风衣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", 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高跟鞋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", 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袜子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"])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bar.add_yaxis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商家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A", [114, 55, 27, 101, 125, 27, 105])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bar.add_yaxis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商家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B", [57, 134, 137, 129, 145, 60, 49])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bar.set_global_opts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title_opts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opts.TitleOpts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(title = 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货品销售情况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",subtitle  =  "A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公司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"))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bar.render_notebook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endParaRPr lang="zh-CN" altLang="en-US" dirty="0"/>
          </a:p>
        </p:txBody>
      </p:sp>
      <p:pic>
        <p:nvPicPr>
          <p:cNvPr id="1024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1119533"/>
            <a:ext cx="4808251" cy="242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523823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775520" y="764705"/>
            <a:ext cx="8424936" cy="1256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65048" rIns="91440" bIns="165048" numCol="1" anchor="ctr" anchorCtr="0" compatLnSpc="1">
            <a:prstTxWarp prst="textNoShape">
              <a:avLst/>
            </a:prstTxWarp>
            <a:spAutoFit/>
          </a:bodyPr>
          <a:lstStyle>
            <a:lvl1pPr indent="304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柱状图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</a:pPr>
            <a:endParaRPr lang="zh-CN" altLang="en-US" sz="2000" b="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93695" y="1315466"/>
            <a:ext cx="77403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利用</a:t>
            </a:r>
            <a:r>
              <a:rPr lang="en-US" altLang="zh-CN" sz="2000" b="0" dirty="0" err="1">
                <a:latin typeface="宋体" panose="02010600030101010101" pitchFamily="2" charset="-122"/>
                <a:ea typeface="宋体" panose="02010600030101010101" pitchFamily="2" charset="-122"/>
              </a:rPr>
              <a:t>bar.reversal_axis</a:t>
            </a:r>
            <a:r>
              <a:rPr lang="en-US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可以绘制水平的直方图。</a:t>
            </a:r>
          </a:p>
          <a:p>
            <a:pPr algn="l">
              <a:lnSpc>
                <a:spcPct val="120000"/>
              </a:lnSpc>
            </a:pPr>
            <a:r>
              <a:rPr lang="zh-CN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【例</a:t>
            </a:r>
            <a:r>
              <a:rPr lang="en-US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8-3</a:t>
            </a:r>
            <a:r>
              <a:rPr lang="zh-CN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】绘制水平直方图</a:t>
            </a:r>
            <a:r>
              <a:rPr lang="zh-CN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9639" y="2052043"/>
            <a:ext cx="8748464" cy="3385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/>
              <a:t>%</a:t>
            </a:r>
            <a:r>
              <a:rPr lang="en-US" altLang="zh-CN" dirty="0" err="1"/>
              <a:t>matplotlib</a:t>
            </a:r>
            <a:r>
              <a:rPr lang="en-US" altLang="zh-CN" dirty="0"/>
              <a:t> inline</a:t>
            </a:r>
            <a:endParaRPr lang="zh-CN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/>
              <a:t>bar = Bar()</a:t>
            </a:r>
            <a:endParaRPr lang="zh-CN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 err="1"/>
              <a:t>bar.add_xaxis</a:t>
            </a:r>
            <a:r>
              <a:rPr lang="en-US" altLang="zh-CN" dirty="0"/>
              <a:t>(["</a:t>
            </a:r>
            <a:r>
              <a:rPr lang="zh-CN" altLang="zh-CN" dirty="0"/>
              <a:t>衬衫</a:t>
            </a:r>
            <a:r>
              <a:rPr lang="en-US" altLang="zh-CN" dirty="0"/>
              <a:t>", "</a:t>
            </a:r>
            <a:r>
              <a:rPr lang="zh-CN" altLang="zh-CN" dirty="0"/>
              <a:t>毛衣</a:t>
            </a:r>
            <a:r>
              <a:rPr lang="en-US" altLang="zh-CN" dirty="0"/>
              <a:t>", "</a:t>
            </a:r>
            <a:r>
              <a:rPr lang="zh-CN" altLang="zh-CN" dirty="0"/>
              <a:t>领带</a:t>
            </a:r>
            <a:r>
              <a:rPr lang="en-US" altLang="zh-CN" dirty="0"/>
              <a:t>", "</a:t>
            </a:r>
            <a:r>
              <a:rPr lang="zh-CN" altLang="zh-CN" dirty="0"/>
              <a:t>裤子</a:t>
            </a:r>
            <a:r>
              <a:rPr lang="en-US" altLang="zh-CN" dirty="0"/>
              <a:t>", "</a:t>
            </a:r>
            <a:r>
              <a:rPr lang="zh-CN" altLang="zh-CN" dirty="0"/>
              <a:t>风衣</a:t>
            </a:r>
            <a:r>
              <a:rPr lang="en-US" altLang="zh-CN" dirty="0"/>
              <a:t>", "</a:t>
            </a:r>
            <a:r>
              <a:rPr lang="zh-CN" altLang="zh-CN" dirty="0"/>
              <a:t>高跟鞋</a:t>
            </a:r>
            <a:r>
              <a:rPr lang="en-US" altLang="zh-CN" dirty="0"/>
              <a:t>", "</a:t>
            </a:r>
            <a:r>
              <a:rPr lang="zh-CN" altLang="zh-CN" dirty="0"/>
              <a:t>袜子</a:t>
            </a:r>
            <a:r>
              <a:rPr lang="en-US" altLang="zh-CN" dirty="0"/>
              <a:t>"])</a:t>
            </a:r>
            <a:endParaRPr lang="zh-CN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 err="1"/>
              <a:t>bar.add_yaxis</a:t>
            </a:r>
            <a:r>
              <a:rPr lang="en-US" altLang="zh-CN" dirty="0"/>
              <a:t>("</a:t>
            </a:r>
            <a:r>
              <a:rPr lang="zh-CN" altLang="zh-CN" dirty="0"/>
              <a:t>商家</a:t>
            </a:r>
            <a:r>
              <a:rPr lang="en-US" altLang="zh-CN" dirty="0"/>
              <a:t>A", [114, 55, 27, 101, 125, 27, 105])</a:t>
            </a:r>
            <a:endParaRPr lang="zh-CN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 err="1"/>
              <a:t>bar.add_yaxis</a:t>
            </a:r>
            <a:r>
              <a:rPr lang="en-US" altLang="zh-CN" dirty="0"/>
              <a:t>("</a:t>
            </a:r>
            <a:r>
              <a:rPr lang="zh-CN" altLang="zh-CN" dirty="0"/>
              <a:t>商家</a:t>
            </a:r>
            <a:r>
              <a:rPr lang="en-US" altLang="zh-CN" dirty="0"/>
              <a:t>B", [57, 134, 137, 129, 145, 60, 49])</a:t>
            </a:r>
            <a:endParaRPr lang="zh-CN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 err="1"/>
              <a:t>bar.set_global_opts</a:t>
            </a:r>
            <a:r>
              <a:rPr lang="en-US" altLang="zh-CN" dirty="0"/>
              <a:t>(</a:t>
            </a:r>
            <a:r>
              <a:rPr lang="en-US" altLang="zh-CN" dirty="0" err="1"/>
              <a:t>title_opts</a:t>
            </a:r>
            <a:r>
              <a:rPr lang="en-US" altLang="zh-CN" dirty="0"/>
              <a:t>=</a:t>
            </a:r>
            <a:r>
              <a:rPr lang="en-US" altLang="zh-CN" dirty="0" err="1"/>
              <a:t>opts.TitleOpts</a:t>
            </a:r>
            <a:r>
              <a:rPr lang="en-US" altLang="zh-CN" dirty="0"/>
              <a:t>(title="</a:t>
            </a:r>
            <a:r>
              <a:rPr lang="zh-CN" altLang="zh-CN" dirty="0"/>
              <a:t>货品销售情况</a:t>
            </a:r>
            <a:r>
              <a:rPr lang="en-US" altLang="zh-CN" dirty="0"/>
              <a:t>",subtitle = "A</a:t>
            </a:r>
            <a:r>
              <a:rPr lang="zh-CN" altLang="zh-CN" dirty="0"/>
              <a:t>和</a:t>
            </a:r>
            <a:r>
              <a:rPr lang="en-US" altLang="zh-CN" dirty="0"/>
              <a:t>B</a:t>
            </a:r>
            <a:r>
              <a:rPr lang="zh-CN" altLang="zh-CN" dirty="0"/>
              <a:t>公司</a:t>
            </a:r>
            <a:r>
              <a:rPr lang="en-US" altLang="zh-CN" dirty="0"/>
              <a:t>"),</a:t>
            </a:r>
            <a:r>
              <a:rPr lang="en-US" altLang="zh-CN" dirty="0" err="1"/>
              <a:t>toolbox_opts</a:t>
            </a:r>
            <a:r>
              <a:rPr lang="en-US" altLang="zh-CN" dirty="0"/>
              <a:t> = </a:t>
            </a:r>
            <a:r>
              <a:rPr lang="en-US" altLang="zh-CN" dirty="0" err="1"/>
              <a:t>opts.ToolboxOpts</a:t>
            </a:r>
            <a:r>
              <a:rPr lang="en-US" altLang="zh-CN" dirty="0"/>
              <a:t>(</a:t>
            </a:r>
            <a:r>
              <a:rPr lang="en-US" altLang="zh-CN" dirty="0" err="1"/>
              <a:t>is_show</a:t>
            </a:r>
            <a:r>
              <a:rPr lang="en-US" altLang="zh-CN" dirty="0"/>
              <a:t> = True))</a:t>
            </a:r>
            <a:endParaRPr lang="zh-CN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 err="1"/>
              <a:t>bar.set_series_opts</a:t>
            </a:r>
            <a:r>
              <a:rPr lang="en-US" altLang="zh-CN" dirty="0"/>
              <a:t>(</a:t>
            </a:r>
            <a:r>
              <a:rPr lang="en-US" altLang="zh-CN" dirty="0" err="1"/>
              <a:t>label_opts</a:t>
            </a:r>
            <a:r>
              <a:rPr lang="en-US" altLang="zh-CN" dirty="0"/>
              <a:t>=</a:t>
            </a:r>
            <a:r>
              <a:rPr lang="en-US" altLang="zh-CN" dirty="0" err="1"/>
              <a:t>opts.LabelOpts</a:t>
            </a:r>
            <a:r>
              <a:rPr lang="en-US" altLang="zh-CN" dirty="0"/>
              <a:t>(position = "right"))</a:t>
            </a:r>
            <a:endParaRPr lang="zh-CN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 err="1"/>
              <a:t>bar.reversal_axis</a:t>
            </a:r>
            <a:r>
              <a:rPr lang="en-US" altLang="zh-CN" dirty="0"/>
              <a:t>()</a:t>
            </a:r>
            <a:endParaRPr lang="zh-CN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 err="1"/>
              <a:t>bar.render_notebook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pic>
        <p:nvPicPr>
          <p:cNvPr id="1126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717" y="4825456"/>
            <a:ext cx="4667250" cy="201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135863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18184" y="960405"/>
            <a:ext cx="77403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20000"/>
              </a:lnSpc>
            </a:pPr>
            <a:r>
              <a:rPr lang="x-none" altLang="zh-CN" sz="2000" dirty="0"/>
              <a:t>2 饼图</a:t>
            </a:r>
            <a:endParaRPr lang="zh-CN" altLang="zh-CN" sz="2000" dirty="0"/>
          </a:p>
          <a:p>
            <a:pPr algn="l">
              <a:lnSpc>
                <a:spcPct val="120000"/>
              </a:lnSpc>
            </a:pPr>
            <a:r>
              <a:rPr lang="en-US" altLang="zh-CN" sz="2000" b="0" dirty="0"/>
              <a:t> </a:t>
            </a:r>
            <a:r>
              <a:rPr lang="zh-CN" altLang="zh-CN" sz="2000" b="0" dirty="0"/>
              <a:t>饼</a:t>
            </a:r>
            <a:r>
              <a:rPr lang="zh-CN" altLang="zh-CN" sz="2000" b="0" dirty="0"/>
              <a:t>图常用于表现不同类别的占比情况。利用</a:t>
            </a:r>
            <a:r>
              <a:rPr lang="en-US" altLang="zh-CN" sz="2000" b="0" dirty="0"/>
              <a:t>Pie</a:t>
            </a:r>
            <a:r>
              <a:rPr lang="zh-CN" altLang="zh-CN" sz="2000" b="0" dirty="0"/>
              <a:t>方法可以绘制饼图。</a:t>
            </a:r>
          </a:p>
          <a:p>
            <a:pPr algn="l">
              <a:lnSpc>
                <a:spcPct val="120000"/>
              </a:lnSpc>
            </a:pPr>
            <a:r>
              <a:rPr lang="zh-CN" altLang="zh-CN" sz="2000" b="0" dirty="0"/>
              <a:t>【例</a:t>
            </a:r>
            <a:r>
              <a:rPr lang="en-US" altLang="zh-CN" sz="2000" b="0" dirty="0"/>
              <a:t>8-4</a:t>
            </a:r>
            <a:r>
              <a:rPr lang="zh-CN" altLang="zh-CN" sz="2000" b="0" dirty="0"/>
              <a:t>】饼图绘制。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60101" y="2554526"/>
            <a:ext cx="8748464" cy="3264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zh-CN" sz="2100" b="0" dirty="0"/>
              <a:t>from </a:t>
            </a:r>
            <a:r>
              <a:rPr lang="en-US" altLang="zh-CN" sz="2100" b="0" dirty="0" err="1"/>
              <a:t>pyecharts</a:t>
            </a:r>
            <a:r>
              <a:rPr lang="en-US" altLang="zh-CN" sz="2100" b="0" dirty="0"/>
              <a:t> import options as opts    </a:t>
            </a:r>
            <a:endParaRPr lang="zh-CN" altLang="zh-CN" sz="2100" b="0" dirty="0"/>
          </a:p>
          <a:p>
            <a:pPr algn="l">
              <a:lnSpc>
                <a:spcPct val="110000"/>
              </a:lnSpc>
            </a:pPr>
            <a:r>
              <a:rPr lang="en-US" altLang="zh-CN" sz="2100" b="0" dirty="0"/>
              <a:t>from </a:t>
            </a:r>
            <a:r>
              <a:rPr lang="en-US" altLang="zh-CN" sz="2100" b="0" dirty="0" err="1"/>
              <a:t>pyecharts.charts</a:t>
            </a:r>
            <a:r>
              <a:rPr lang="en-US" altLang="zh-CN" sz="2100" b="0" dirty="0"/>
              <a:t> import Page, Pie</a:t>
            </a:r>
            <a:endParaRPr lang="zh-CN" altLang="zh-CN" sz="2100" b="0" dirty="0"/>
          </a:p>
          <a:p>
            <a:pPr algn="l">
              <a:lnSpc>
                <a:spcPct val="110000"/>
              </a:lnSpc>
            </a:pPr>
            <a:r>
              <a:rPr lang="en-US" altLang="zh-CN" sz="2100" b="0" dirty="0"/>
              <a:t>L1=['</a:t>
            </a:r>
            <a:r>
              <a:rPr lang="zh-CN" altLang="zh-CN" sz="2100" b="0" dirty="0"/>
              <a:t>教授</a:t>
            </a:r>
            <a:r>
              <a:rPr lang="en-US" altLang="zh-CN" sz="2100" b="0" dirty="0"/>
              <a:t>','</a:t>
            </a:r>
            <a:r>
              <a:rPr lang="zh-CN" altLang="zh-CN" sz="2100" b="0" dirty="0"/>
              <a:t>副教授</a:t>
            </a:r>
            <a:r>
              <a:rPr lang="en-US" altLang="zh-CN" sz="2100" b="0" dirty="0"/>
              <a:t>','</a:t>
            </a:r>
            <a:r>
              <a:rPr lang="zh-CN" altLang="zh-CN" sz="2100" b="0" dirty="0"/>
              <a:t>讲师</a:t>
            </a:r>
            <a:r>
              <a:rPr lang="en-US" altLang="zh-CN" sz="2100" b="0" dirty="0"/>
              <a:t>','</a:t>
            </a:r>
            <a:r>
              <a:rPr lang="zh-CN" altLang="zh-CN" sz="2100" b="0" dirty="0"/>
              <a:t>助教</a:t>
            </a:r>
            <a:r>
              <a:rPr lang="en-US" altLang="zh-CN" sz="2100" b="0" dirty="0"/>
              <a:t>','</a:t>
            </a:r>
            <a:r>
              <a:rPr lang="zh-CN" altLang="zh-CN" sz="2100" b="0" dirty="0"/>
              <a:t>其他</a:t>
            </a:r>
            <a:r>
              <a:rPr lang="en-US" altLang="zh-CN" sz="2100" b="0" dirty="0"/>
              <a:t>']</a:t>
            </a:r>
            <a:endParaRPr lang="zh-CN" altLang="zh-CN" sz="2100" b="0" dirty="0"/>
          </a:p>
          <a:p>
            <a:pPr algn="l">
              <a:lnSpc>
                <a:spcPct val="110000"/>
              </a:lnSpc>
            </a:pPr>
            <a:r>
              <a:rPr lang="en-US" altLang="zh-CN" sz="2100" b="0" dirty="0" err="1"/>
              <a:t>num</a:t>
            </a:r>
            <a:r>
              <a:rPr lang="en-US" altLang="zh-CN" sz="2100" b="0" dirty="0"/>
              <a:t>  = [20,30,10,12,8]</a:t>
            </a:r>
            <a:endParaRPr lang="zh-CN" altLang="zh-CN" sz="2100" b="0" dirty="0"/>
          </a:p>
          <a:p>
            <a:pPr algn="l">
              <a:lnSpc>
                <a:spcPct val="110000"/>
              </a:lnSpc>
            </a:pPr>
            <a:r>
              <a:rPr lang="en-US" altLang="zh-CN" sz="2100" b="0" dirty="0"/>
              <a:t>c = Pie()</a:t>
            </a:r>
            <a:endParaRPr lang="zh-CN" altLang="zh-CN" sz="2100" b="0" dirty="0"/>
          </a:p>
          <a:p>
            <a:pPr algn="l">
              <a:lnSpc>
                <a:spcPct val="110000"/>
              </a:lnSpc>
            </a:pPr>
            <a:r>
              <a:rPr lang="en-US" altLang="zh-CN" sz="2100" b="0" dirty="0" err="1"/>
              <a:t>c.add</a:t>
            </a:r>
            <a:r>
              <a:rPr lang="en-US" altLang="zh-CN" sz="2100" b="0" dirty="0"/>
              <a:t>("", [list(z) for z in zip(L1,num)])</a:t>
            </a:r>
            <a:endParaRPr lang="zh-CN" altLang="zh-CN" sz="2100" b="0" dirty="0"/>
          </a:p>
          <a:p>
            <a:pPr algn="l">
              <a:lnSpc>
                <a:spcPct val="110000"/>
              </a:lnSpc>
            </a:pPr>
            <a:r>
              <a:rPr lang="en-US" altLang="zh-CN" sz="2100" b="0" dirty="0" err="1"/>
              <a:t>c.set_global_opts</a:t>
            </a:r>
            <a:r>
              <a:rPr lang="en-US" altLang="zh-CN" sz="2100" b="0" dirty="0"/>
              <a:t>(</a:t>
            </a:r>
            <a:r>
              <a:rPr lang="en-US" altLang="zh-CN" sz="2100" b="0" dirty="0" err="1"/>
              <a:t>title_opts</a:t>
            </a:r>
            <a:r>
              <a:rPr lang="en-US" altLang="zh-CN" sz="2100" b="0" dirty="0"/>
              <a:t>=</a:t>
            </a:r>
            <a:r>
              <a:rPr lang="en-US" altLang="zh-CN" sz="2100" b="0" dirty="0" err="1"/>
              <a:t>opts.TitleOpts</a:t>
            </a:r>
            <a:r>
              <a:rPr lang="en-US" altLang="zh-CN" sz="2100" b="0" dirty="0"/>
              <a:t>(title="Pie-</a:t>
            </a:r>
            <a:r>
              <a:rPr lang="zh-CN" altLang="zh-CN" sz="2100" b="0" dirty="0"/>
              <a:t>职称类别比例</a:t>
            </a:r>
            <a:r>
              <a:rPr lang="en-US" altLang="zh-CN" sz="2100" b="0" dirty="0"/>
              <a:t>"))</a:t>
            </a:r>
            <a:endParaRPr lang="zh-CN" altLang="zh-CN" sz="2100" b="0" dirty="0"/>
          </a:p>
          <a:p>
            <a:pPr algn="l">
              <a:lnSpc>
                <a:spcPct val="110000"/>
              </a:lnSpc>
            </a:pPr>
            <a:r>
              <a:rPr lang="en-US" altLang="zh-CN" sz="2100" b="0" dirty="0" err="1"/>
              <a:t>c.set_series_opts</a:t>
            </a:r>
            <a:r>
              <a:rPr lang="en-US" altLang="zh-CN" sz="2100" b="0" dirty="0"/>
              <a:t>(</a:t>
            </a:r>
            <a:r>
              <a:rPr lang="en-US" altLang="zh-CN" sz="2100" b="0" dirty="0" err="1"/>
              <a:t>label_opts</a:t>
            </a:r>
            <a:r>
              <a:rPr lang="en-US" altLang="zh-CN" sz="2100" b="0" dirty="0"/>
              <a:t>=</a:t>
            </a:r>
            <a:r>
              <a:rPr lang="en-US" altLang="zh-CN" sz="2100" b="0" dirty="0" err="1"/>
              <a:t>opts.LabelOpts</a:t>
            </a:r>
            <a:r>
              <a:rPr lang="en-US" altLang="zh-CN" sz="2100" b="0" dirty="0"/>
              <a:t>(formatter="{b}: {c}"))</a:t>
            </a:r>
            <a:endParaRPr lang="zh-CN" altLang="zh-CN" sz="2100" b="0" dirty="0"/>
          </a:p>
          <a:p>
            <a:pPr algn="l">
              <a:lnSpc>
                <a:spcPct val="110000"/>
              </a:lnSpc>
            </a:pPr>
            <a:r>
              <a:rPr lang="en-US" altLang="zh-CN" sz="2100" b="0" dirty="0" err="1"/>
              <a:t>c.render_notebook</a:t>
            </a:r>
            <a:r>
              <a:rPr lang="en-US" altLang="zh-CN" sz="2100" b="0" dirty="0"/>
              <a:t>()</a:t>
            </a:r>
            <a:endParaRPr lang="zh-CN" altLang="en-US" sz="2100" b="0" dirty="0"/>
          </a:p>
        </p:txBody>
      </p:sp>
      <p:pic>
        <p:nvPicPr>
          <p:cNvPr id="1229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24" y="2030427"/>
            <a:ext cx="3371468" cy="191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541397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18184" y="1021959"/>
            <a:ext cx="774035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20000"/>
              </a:lnSpc>
            </a:pPr>
            <a:r>
              <a:rPr lang="x-none" altLang="zh-CN" sz="2000" dirty="0"/>
              <a:t>2 饼图</a:t>
            </a:r>
            <a:endParaRPr lang="zh-CN" altLang="zh-CN" sz="2000" dirty="0"/>
          </a:p>
          <a:p>
            <a:pPr algn="l"/>
            <a:r>
              <a:rPr lang="zh-CN" altLang="zh-CN" sz="2000" b="0" dirty="0"/>
              <a:t>通过参数圆形饼图</a:t>
            </a:r>
            <a:r>
              <a:rPr lang="en-US" altLang="zh-CN" sz="2000" b="0" dirty="0"/>
              <a:t>radius</a:t>
            </a:r>
            <a:r>
              <a:rPr lang="zh-CN" altLang="zh-CN" sz="2000" b="0" dirty="0"/>
              <a:t>可以绘制圆形饼图。</a:t>
            </a:r>
          </a:p>
          <a:p>
            <a:pPr algn="l"/>
            <a:r>
              <a:rPr lang="zh-CN" altLang="zh-CN" sz="2000" b="0" dirty="0"/>
              <a:t>【例</a:t>
            </a:r>
            <a:r>
              <a:rPr lang="en-US" altLang="zh-CN" sz="2000" b="0" dirty="0"/>
              <a:t>8-5</a:t>
            </a:r>
            <a:r>
              <a:rPr lang="zh-CN" altLang="zh-CN" sz="2000" b="0" dirty="0"/>
              <a:t>】圆形饼图绘制。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14128" y="2447637"/>
            <a:ext cx="87484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</a:t>
            </a:r>
            <a:r>
              <a:rPr lang="en-US" altLang="zh-CN" sz="2000" b="0" dirty="0"/>
              <a:t> import options as opts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pyecharts.charts</a:t>
            </a:r>
            <a:r>
              <a:rPr lang="en-US" altLang="zh-CN" sz="2000" b="0" dirty="0"/>
              <a:t> import Page, Pie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wd</a:t>
            </a:r>
            <a:r>
              <a:rPr lang="en-US" altLang="zh-CN" sz="2000" b="0" dirty="0"/>
              <a:t> = ['</a:t>
            </a:r>
            <a:r>
              <a:rPr lang="zh-CN" altLang="zh-CN" sz="2000" b="0" dirty="0"/>
              <a:t>教授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副教授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讲师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助教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其他</a:t>
            </a:r>
            <a:r>
              <a:rPr lang="en-US" altLang="zh-CN" sz="2000" b="0" dirty="0"/>
              <a:t>']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num</a:t>
            </a:r>
            <a:r>
              <a:rPr lang="en-US" altLang="zh-CN" sz="2000" b="0" dirty="0"/>
              <a:t> = [20,30,10,12,8]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c = Pie()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c.add</a:t>
            </a:r>
            <a:r>
              <a:rPr lang="en-US" altLang="zh-CN" sz="2000" b="0" dirty="0"/>
              <a:t>("",[list(z) for z in zip(</a:t>
            </a:r>
            <a:r>
              <a:rPr lang="en-US" altLang="zh-CN" sz="2000" b="0" dirty="0" err="1"/>
              <a:t>wd</a:t>
            </a:r>
            <a:r>
              <a:rPr lang="en-US" altLang="zh-CN" sz="2000" b="0" dirty="0"/>
              <a:t>, </a:t>
            </a:r>
            <a:r>
              <a:rPr lang="en-US" altLang="zh-CN" sz="2000" b="0" dirty="0" err="1"/>
              <a:t>num</a:t>
            </a:r>
            <a:r>
              <a:rPr lang="en-US" altLang="zh-CN" sz="2000" b="0" dirty="0"/>
              <a:t>)],radius = ["40%", "75%"])   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# </a:t>
            </a:r>
            <a:r>
              <a:rPr lang="zh-CN" altLang="zh-CN" sz="2000" b="0" i="1" dirty="0"/>
              <a:t>圆环的粗细和大小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c.set_global_opts</a:t>
            </a:r>
            <a:r>
              <a:rPr lang="en-US" altLang="zh-CN" sz="2000" b="0" dirty="0"/>
              <a:t>( </a:t>
            </a:r>
            <a:r>
              <a:rPr lang="en-US" altLang="zh-CN" sz="2000" b="0" dirty="0" err="1"/>
              <a:t>title_opts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opts.TitleOpts</a:t>
            </a:r>
            <a:r>
              <a:rPr lang="en-US" altLang="zh-CN" sz="2000" b="0" dirty="0"/>
              <a:t>(title="Pie-Radius"),</a:t>
            </a:r>
            <a:r>
              <a:rPr lang="en-US" altLang="zh-CN" sz="2000" b="0" dirty="0" err="1"/>
              <a:t>legend_opts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opts.LegendOpts</a:t>
            </a:r>
            <a:r>
              <a:rPr lang="en-US" altLang="zh-CN" sz="2000" b="0" dirty="0"/>
              <a:t>( orient="vertical", </a:t>
            </a:r>
            <a:r>
              <a:rPr lang="en-US" altLang="zh-CN" sz="2000" b="0" dirty="0" err="1"/>
              <a:t>pos_top</a:t>
            </a:r>
            <a:r>
              <a:rPr lang="en-US" altLang="zh-CN" sz="2000" b="0" dirty="0"/>
              <a:t>="5%", </a:t>
            </a:r>
            <a:r>
              <a:rPr lang="en-US" altLang="zh-CN" sz="2000" b="0" dirty="0" err="1"/>
              <a:t>pos_left</a:t>
            </a:r>
            <a:r>
              <a:rPr lang="en-US" altLang="zh-CN" sz="2000" b="0" dirty="0"/>
              <a:t>="2%" ))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c .</a:t>
            </a:r>
            <a:r>
              <a:rPr lang="en-US" altLang="zh-CN" sz="2000" b="0" dirty="0" err="1"/>
              <a:t>set_series_opts</a:t>
            </a:r>
            <a:r>
              <a:rPr lang="en-US" altLang="zh-CN" sz="2000" b="0" dirty="0"/>
              <a:t>(</a:t>
            </a:r>
            <a:r>
              <a:rPr lang="en-US" altLang="zh-CN" sz="2000" b="0" dirty="0" err="1"/>
              <a:t>label_opts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opts.LabelOpts</a:t>
            </a:r>
            <a:r>
              <a:rPr lang="en-US" altLang="zh-CN" sz="2000" b="0" dirty="0"/>
              <a:t>(formatter="{b}: {c}"))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c.render_notebook</a:t>
            </a:r>
            <a:r>
              <a:rPr lang="en-US" altLang="zh-CN" sz="2000" b="0" dirty="0"/>
              <a:t>()</a:t>
            </a:r>
            <a:endParaRPr lang="zh-CN" altLang="en-US" sz="2000" b="0" dirty="0"/>
          </a:p>
        </p:txBody>
      </p:sp>
      <p:pic>
        <p:nvPicPr>
          <p:cNvPr id="1331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936991"/>
            <a:ext cx="4816535" cy="2672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751449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775520" y="1067307"/>
            <a:ext cx="77403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zh-CN" sz="2000" dirty="0"/>
              <a:t>可以</a:t>
            </a:r>
            <a:r>
              <a:rPr lang="zh-CN" altLang="zh-CN" sz="2000" dirty="0"/>
              <a:t>通过</a:t>
            </a:r>
            <a:r>
              <a:rPr lang="en-US" altLang="zh-CN" sz="2000" dirty="0"/>
              <a:t>rich</a:t>
            </a:r>
            <a:r>
              <a:rPr lang="zh-CN" altLang="zh-CN" sz="2000" dirty="0"/>
              <a:t>参数设置更多属性</a:t>
            </a:r>
            <a:r>
              <a:rPr lang="zh-CN" altLang="zh-CN" sz="2000" dirty="0"/>
              <a:t>。</a:t>
            </a:r>
            <a:endParaRPr lang="en-US" altLang="zh-CN" sz="2000" dirty="0"/>
          </a:p>
          <a:p>
            <a:pPr algn="l"/>
            <a:r>
              <a:rPr lang="zh-CN" altLang="zh-CN" sz="2000" b="0" dirty="0"/>
              <a:t>【</a:t>
            </a:r>
            <a:r>
              <a:rPr lang="zh-CN" altLang="zh-CN" sz="2000" b="0" dirty="0"/>
              <a:t>例</a:t>
            </a:r>
            <a:r>
              <a:rPr lang="en-US" altLang="zh-CN" sz="2000" b="0" dirty="0"/>
              <a:t>8-6</a:t>
            </a:r>
            <a:r>
              <a:rPr lang="zh-CN" altLang="zh-CN" sz="2000" b="0" dirty="0"/>
              <a:t>】</a:t>
            </a:r>
            <a:r>
              <a:rPr lang="zh-CN" altLang="zh-CN" sz="2000" b="0" dirty="0"/>
              <a:t>圆形饼图中的</a:t>
            </a:r>
            <a:r>
              <a:rPr lang="en-US" altLang="zh-CN" sz="2000" b="0" dirty="0"/>
              <a:t>rich</a:t>
            </a:r>
            <a:r>
              <a:rPr lang="zh-CN" altLang="zh-CN" sz="2000" b="0" dirty="0"/>
              <a:t>参数应用</a:t>
            </a:r>
            <a:r>
              <a:rPr lang="zh-CN" altLang="zh-CN" sz="2000" b="0" dirty="0"/>
              <a:t>。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3432" y="1708505"/>
            <a:ext cx="87484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b="0" dirty="0" smtClean="0"/>
              <a:t>-------------</a:t>
            </a:r>
          </a:p>
          <a:p>
            <a:pPr algn="l"/>
            <a:r>
              <a:rPr lang="en-US" altLang="zh-CN" b="0" dirty="0" smtClean="0"/>
              <a:t>c </a:t>
            </a:r>
            <a:r>
              <a:rPr lang="en-US" altLang="zh-CN" b="0" dirty="0"/>
              <a:t>= Pie()</a:t>
            </a:r>
            <a:endParaRPr lang="zh-CN" altLang="zh-CN" b="0" dirty="0"/>
          </a:p>
          <a:p>
            <a:pPr algn="l"/>
            <a:r>
              <a:rPr lang="en-US" altLang="zh-CN" b="0" dirty="0" err="1"/>
              <a:t>c.add</a:t>
            </a:r>
            <a:r>
              <a:rPr lang="en-US" altLang="zh-CN" b="0" dirty="0"/>
              <a:t>("",[list(z) for z in zip(</a:t>
            </a:r>
            <a:r>
              <a:rPr lang="en-US" altLang="zh-CN" b="0" dirty="0" err="1"/>
              <a:t>wd</a:t>
            </a:r>
            <a:r>
              <a:rPr lang="en-US" altLang="zh-CN" b="0" dirty="0"/>
              <a:t>, </a:t>
            </a:r>
            <a:r>
              <a:rPr lang="en-US" altLang="zh-CN" b="0" dirty="0" err="1"/>
              <a:t>num</a:t>
            </a:r>
            <a:r>
              <a:rPr lang="en-US" altLang="zh-CN" b="0" dirty="0"/>
              <a:t>)],radius=["40%", "55%"],</a:t>
            </a:r>
            <a:endParaRPr lang="zh-CN" altLang="zh-CN" b="0" dirty="0"/>
          </a:p>
          <a:p>
            <a:pPr algn="l"/>
            <a:r>
              <a:rPr lang="en-US" altLang="zh-CN" b="0" dirty="0"/>
              <a:t>       </a:t>
            </a:r>
            <a:r>
              <a:rPr lang="en-US" altLang="zh-CN" b="0" dirty="0" err="1"/>
              <a:t>label_opts</a:t>
            </a:r>
            <a:r>
              <a:rPr lang="en-US" altLang="zh-CN" b="0" dirty="0"/>
              <a:t>=</a:t>
            </a:r>
            <a:r>
              <a:rPr lang="en-US" altLang="zh-CN" b="0" dirty="0" err="1"/>
              <a:t>opts.LabelOpts</a:t>
            </a:r>
            <a:r>
              <a:rPr lang="en-US" altLang="zh-CN" b="0" dirty="0"/>
              <a:t>(position="outside",</a:t>
            </a:r>
            <a:endParaRPr lang="zh-CN" altLang="zh-CN" b="0" dirty="0"/>
          </a:p>
          <a:p>
            <a:pPr algn="l"/>
            <a:r>
              <a:rPr lang="en-US" altLang="zh-CN" b="0" dirty="0"/>
              <a:t>       formatter="{a|{a}}{</a:t>
            </a:r>
            <a:r>
              <a:rPr lang="en-US" altLang="zh-CN" b="0" dirty="0" err="1"/>
              <a:t>abg</a:t>
            </a:r>
            <a:r>
              <a:rPr lang="en-US" altLang="zh-CN" b="0" dirty="0"/>
              <a:t>|}\n{</a:t>
            </a:r>
            <a:r>
              <a:rPr lang="en-US" altLang="zh-CN" b="0" dirty="0" err="1"/>
              <a:t>hr</a:t>
            </a:r>
            <a:r>
              <a:rPr lang="en-US" altLang="zh-CN" b="0" dirty="0"/>
              <a:t>|}\n{b|{b}:}{c}  {per|{d}%} ",</a:t>
            </a:r>
            <a:endParaRPr lang="zh-CN" altLang="zh-CN" b="0" dirty="0"/>
          </a:p>
          <a:p>
            <a:pPr algn="l"/>
            <a:r>
              <a:rPr lang="en-US" altLang="zh-CN" b="0" dirty="0"/>
              <a:t>       </a:t>
            </a:r>
            <a:r>
              <a:rPr lang="en-US" altLang="zh-CN" b="0" dirty="0" err="1"/>
              <a:t>background_color</a:t>
            </a:r>
            <a:r>
              <a:rPr lang="en-US" altLang="zh-CN" b="0" dirty="0"/>
              <a:t>="#</a:t>
            </a:r>
            <a:r>
              <a:rPr lang="en-US" altLang="zh-CN" b="0" dirty="0" err="1"/>
              <a:t>eee</a:t>
            </a:r>
            <a:r>
              <a:rPr lang="en-US" altLang="zh-CN" b="0" dirty="0"/>
              <a:t>",</a:t>
            </a:r>
            <a:r>
              <a:rPr lang="en-US" altLang="zh-CN" b="0" dirty="0" err="1"/>
              <a:t>border_color</a:t>
            </a:r>
            <a:r>
              <a:rPr lang="en-US" altLang="zh-CN" b="0" dirty="0"/>
              <a:t>="#</a:t>
            </a:r>
            <a:r>
              <a:rPr lang="en-US" altLang="zh-CN" b="0" dirty="0" err="1"/>
              <a:t>aaa</a:t>
            </a:r>
            <a:r>
              <a:rPr lang="en-US" altLang="zh-CN" b="0" dirty="0"/>
              <a:t>",</a:t>
            </a:r>
            <a:endParaRPr lang="zh-CN" altLang="zh-CN" b="0" dirty="0"/>
          </a:p>
          <a:p>
            <a:pPr algn="l"/>
            <a:r>
              <a:rPr lang="en-US" altLang="zh-CN" b="0" dirty="0"/>
              <a:t>       </a:t>
            </a:r>
            <a:r>
              <a:rPr lang="en-US" altLang="zh-CN" b="0" dirty="0" err="1"/>
              <a:t>border_width</a:t>
            </a:r>
            <a:r>
              <a:rPr lang="en-US" altLang="zh-CN" b="0" dirty="0"/>
              <a:t>=1,border_radius=4,</a:t>
            </a:r>
            <a:endParaRPr lang="zh-CN" altLang="zh-CN" b="0" dirty="0"/>
          </a:p>
          <a:p>
            <a:pPr algn="l"/>
            <a:r>
              <a:rPr lang="en-US" altLang="zh-CN" b="0" dirty="0"/>
              <a:t>       rich={"a": {"color": "#999", "</a:t>
            </a:r>
            <a:r>
              <a:rPr lang="en-US" altLang="zh-CN" b="0" dirty="0" err="1"/>
              <a:t>lineHeight</a:t>
            </a:r>
            <a:r>
              <a:rPr lang="en-US" altLang="zh-CN" b="0" dirty="0"/>
              <a:t>": 22, "align": </a:t>
            </a:r>
            <a:br>
              <a:rPr lang="en-US" altLang="zh-CN" b="0" dirty="0"/>
            </a:br>
            <a:r>
              <a:rPr lang="en-US" altLang="zh-CN" b="0" dirty="0"/>
              <a:t>"center"},"</a:t>
            </a:r>
            <a:r>
              <a:rPr lang="en-US" altLang="zh-CN" b="0" dirty="0" err="1"/>
              <a:t>abg</a:t>
            </a:r>
            <a:r>
              <a:rPr lang="en-US" altLang="zh-CN" b="0" dirty="0"/>
              <a:t>": {"</a:t>
            </a:r>
            <a:r>
              <a:rPr lang="en-US" altLang="zh-CN" b="0" dirty="0" err="1"/>
              <a:t>backgroundColor</a:t>
            </a:r>
            <a:r>
              <a:rPr lang="en-US" altLang="zh-CN" b="0" dirty="0"/>
              <a:t>": "#e3e3e3","width": "100%", "align": "right", "height": 22,"borderRadius": [4, 4, 0, 0],}, "</a:t>
            </a:r>
            <a:r>
              <a:rPr lang="en-US" altLang="zh-CN" b="0" dirty="0" err="1"/>
              <a:t>hr</a:t>
            </a:r>
            <a:r>
              <a:rPr lang="en-US" altLang="zh-CN" b="0" dirty="0"/>
              <a:t>": {"</a:t>
            </a:r>
            <a:r>
              <a:rPr lang="en-US" altLang="zh-CN" b="0" dirty="0" err="1"/>
              <a:t>borderColor</a:t>
            </a:r>
            <a:r>
              <a:rPr lang="en-US" altLang="zh-CN" b="0" dirty="0"/>
              <a:t>": "#</a:t>
            </a:r>
            <a:r>
              <a:rPr lang="en-US" altLang="zh-CN" b="0" dirty="0" err="1"/>
              <a:t>aaa</a:t>
            </a:r>
            <a:r>
              <a:rPr lang="en-US" altLang="zh-CN" b="0" dirty="0"/>
              <a:t>", "width": "100%",</a:t>
            </a:r>
            <a:br>
              <a:rPr lang="en-US" altLang="zh-CN" b="0" dirty="0"/>
            </a:br>
            <a:r>
              <a:rPr lang="en-US" altLang="zh-CN" b="0" dirty="0"/>
              <a:t>"</a:t>
            </a:r>
            <a:r>
              <a:rPr lang="en-US" altLang="zh-CN" b="0" dirty="0" err="1"/>
              <a:t>borderWidth</a:t>
            </a:r>
            <a:r>
              <a:rPr lang="en-US" altLang="zh-CN" b="0" dirty="0"/>
              <a:t>": 0.5, "height": 0,}, "b": {"</a:t>
            </a:r>
            <a:r>
              <a:rPr lang="en-US" altLang="zh-CN" b="0" dirty="0" err="1"/>
              <a:t>fontSize</a:t>
            </a:r>
            <a:r>
              <a:rPr lang="en-US" altLang="zh-CN" b="0" dirty="0"/>
              <a:t>": 16, "</a:t>
            </a:r>
            <a:r>
              <a:rPr lang="en-US" altLang="zh-CN" b="0" dirty="0" err="1"/>
              <a:t>lineHeight</a:t>
            </a:r>
            <a:r>
              <a:rPr lang="en-US" altLang="zh-CN" b="0" dirty="0"/>
              <a:t>": 33},"per": {"color": "#</a:t>
            </a:r>
            <a:r>
              <a:rPr lang="en-US" altLang="zh-CN" b="0" dirty="0" err="1"/>
              <a:t>eee</a:t>
            </a:r>
            <a:r>
              <a:rPr lang="en-US" altLang="zh-CN" b="0" dirty="0"/>
              <a:t>",</a:t>
            </a:r>
            <a:br>
              <a:rPr lang="en-US" altLang="zh-CN" b="0" dirty="0"/>
            </a:br>
            <a:r>
              <a:rPr lang="en-US" altLang="zh-CN" b="0" dirty="0"/>
              <a:t>"</a:t>
            </a:r>
            <a:r>
              <a:rPr lang="en-US" altLang="zh-CN" b="0" dirty="0" err="1"/>
              <a:t>backgroundColor</a:t>
            </a:r>
            <a:r>
              <a:rPr lang="en-US" altLang="zh-CN" b="0" dirty="0"/>
              <a:t>": "#334455",                        "padding": [2, 4],"</a:t>
            </a:r>
            <a:r>
              <a:rPr lang="en-US" altLang="zh-CN" b="0" dirty="0" err="1"/>
              <a:t>borderRadius</a:t>
            </a:r>
            <a:r>
              <a:rPr lang="en-US" altLang="zh-CN" b="0" dirty="0"/>
              <a:t>": 2,} } ))</a:t>
            </a:r>
            <a:endParaRPr lang="zh-CN" altLang="zh-CN" b="0" dirty="0"/>
          </a:p>
          <a:p>
            <a:pPr algn="l"/>
            <a:r>
              <a:rPr lang="en-US" altLang="zh-CN" b="0" dirty="0" err="1"/>
              <a:t>c.set_global_opts</a:t>
            </a:r>
            <a:r>
              <a:rPr lang="en-US" altLang="zh-CN" b="0" dirty="0"/>
              <a:t>(</a:t>
            </a:r>
            <a:r>
              <a:rPr lang="en-US" altLang="zh-CN" b="0" dirty="0" err="1"/>
              <a:t>title_opts</a:t>
            </a:r>
            <a:r>
              <a:rPr lang="en-US" altLang="zh-CN" b="0" dirty="0"/>
              <a:t>=</a:t>
            </a:r>
            <a:r>
              <a:rPr lang="en-US" altLang="zh-CN" b="0" dirty="0" err="1"/>
              <a:t>opts.TitleOpts</a:t>
            </a:r>
            <a:r>
              <a:rPr lang="en-US" altLang="zh-CN" b="0" dirty="0"/>
              <a:t>(title="Pie-</a:t>
            </a:r>
            <a:r>
              <a:rPr lang="zh-CN" altLang="zh-CN" b="0" dirty="0"/>
              <a:t>富文本示例</a:t>
            </a:r>
            <a:r>
              <a:rPr lang="en-US" altLang="zh-CN" b="0" dirty="0"/>
              <a:t>"))</a:t>
            </a:r>
            <a:endParaRPr lang="zh-CN" altLang="zh-CN" b="0" dirty="0"/>
          </a:p>
          <a:p>
            <a:pPr algn="l"/>
            <a:r>
              <a:rPr lang="en-US" altLang="zh-CN" b="0" dirty="0" err="1"/>
              <a:t>c.render_notebook</a:t>
            </a:r>
            <a:r>
              <a:rPr lang="en-US" altLang="zh-CN" b="0" dirty="0"/>
              <a:t>()</a:t>
            </a:r>
            <a:endParaRPr lang="zh-CN" altLang="en-US" b="0" dirty="0"/>
          </a:p>
        </p:txBody>
      </p:sp>
      <p:pic>
        <p:nvPicPr>
          <p:cNvPr id="14338" name="图片 14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915" y="1047273"/>
            <a:ext cx="4675939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123686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775520" y="1124744"/>
            <a:ext cx="77403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zh-CN" sz="2000" dirty="0"/>
              <a:t>【例</a:t>
            </a:r>
            <a:r>
              <a:rPr lang="en-US" altLang="zh-CN" sz="2000" dirty="0"/>
              <a:t>8-7</a:t>
            </a:r>
            <a:r>
              <a:rPr lang="zh-CN" altLang="zh-CN" sz="2000" dirty="0"/>
              <a:t>】玫瑰图绘制。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99456" y="1876606"/>
            <a:ext cx="87484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</a:t>
            </a:r>
            <a:r>
              <a:rPr lang="en-US" altLang="zh-CN" sz="2000" b="0" dirty="0"/>
              <a:t> import options as opts</a:t>
            </a:r>
            <a:endParaRPr lang="zh-CN" altLang="zh-CN" sz="2000" b="0" dirty="0"/>
          </a:p>
          <a:p>
            <a:pPr algn="l">
              <a:lnSpc>
                <a:spcPct val="120000"/>
              </a:lnSpc>
            </a:pPr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pyecharts.charts</a:t>
            </a:r>
            <a:r>
              <a:rPr lang="en-US" altLang="zh-CN" sz="2000" b="0" dirty="0"/>
              <a:t> import Page, Pie</a:t>
            </a:r>
            <a:endParaRPr lang="zh-CN" altLang="zh-CN" sz="2000" b="0" dirty="0"/>
          </a:p>
          <a:p>
            <a:pPr algn="l">
              <a:lnSpc>
                <a:spcPct val="120000"/>
              </a:lnSpc>
            </a:pPr>
            <a:r>
              <a:rPr lang="en-US" altLang="zh-CN" sz="2000" b="0" dirty="0"/>
              <a:t>data = [45,86,39,52,68]</a:t>
            </a:r>
            <a:endParaRPr lang="zh-CN" altLang="zh-CN" sz="2000" b="0" dirty="0"/>
          </a:p>
          <a:p>
            <a:pPr algn="l">
              <a:lnSpc>
                <a:spcPct val="120000"/>
              </a:lnSpc>
            </a:pPr>
            <a:r>
              <a:rPr lang="en-US" altLang="zh-CN" sz="2000" b="0" dirty="0"/>
              <a:t>labels = ['</a:t>
            </a:r>
            <a:r>
              <a:rPr lang="zh-CN" altLang="zh-CN" sz="2000" b="0" dirty="0"/>
              <a:t>电脑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手机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彩电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冰箱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洗衣机</a:t>
            </a:r>
            <a:r>
              <a:rPr lang="en-US" altLang="zh-CN" sz="2000" b="0" dirty="0"/>
              <a:t>']</a:t>
            </a:r>
            <a:endParaRPr lang="zh-CN" altLang="zh-CN" sz="2000" b="0" dirty="0"/>
          </a:p>
          <a:p>
            <a:pPr algn="l">
              <a:lnSpc>
                <a:spcPct val="120000"/>
              </a:lnSpc>
            </a:pPr>
            <a:r>
              <a:rPr lang="en-US" altLang="zh-CN" sz="2000" b="0" dirty="0"/>
              <a:t>c = Pie()</a:t>
            </a:r>
            <a:endParaRPr lang="zh-CN" altLang="zh-CN" sz="2000" b="0" dirty="0"/>
          </a:p>
          <a:p>
            <a:pPr algn="l">
              <a:lnSpc>
                <a:spcPct val="120000"/>
              </a:lnSpc>
            </a:pPr>
            <a:r>
              <a:rPr lang="en-US" altLang="zh-CN" sz="2000" b="0" dirty="0" err="1"/>
              <a:t>c.add</a:t>
            </a:r>
            <a:r>
              <a:rPr lang="en-US" altLang="zh-CN" sz="2000" b="0" dirty="0"/>
              <a:t>("",[list(z) for z in </a:t>
            </a:r>
            <a:r>
              <a:rPr lang="en-US" altLang="zh-CN" sz="2000" b="0" dirty="0"/>
              <a:t>zip(labels, data)],</a:t>
            </a:r>
            <a:r>
              <a:rPr lang="en-US" altLang="zh-CN" sz="2000" b="0" dirty="0"/>
              <a:t>radius=["40%", "55%"],center=[240,220],</a:t>
            </a:r>
            <a:r>
              <a:rPr lang="en-US" altLang="zh-CN" sz="2000" b="0" dirty="0" err="1"/>
              <a:t>rosetype</a:t>
            </a:r>
            <a:r>
              <a:rPr lang="en-US" altLang="zh-CN" sz="2000" b="0" dirty="0"/>
              <a:t>='radius')</a:t>
            </a:r>
            <a:endParaRPr lang="zh-CN" altLang="zh-CN" sz="2000" b="0" dirty="0"/>
          </a:p>
          <a:p>
            <a:pPr algn="l">
              <a:lnSpc>
                <a:spcPct val="120000"/>
              </a:lnSpc>
            </a:pPr>
            <a:r>
              <a:rPr lang="en-US" altLang="zh-CN" sz="2000" b="0" dirty="0" err="1"/>
              <a:t>c.add</a:t>
            </a:r>
            <a:r>
              <a:rPr lang="en-US" altLang="zh-CN" sz="2000" b="0" dirty="0"/>
              <a:t>("",[list(z) for z in zip(</a:t>
            </a:r>
            <a:r>
              <a:rPr lang="en-US" altLang="zh-CN" sz="2000" b="0" dirty="0" err="1"/>
              <a:t>wd</a:t>
            </a:r>
            <a:r>
              <a:rPr lang="en-US" altLang="zh-CN" sz="2000" b="0" dirty="0"/>
              <a:t>, </a:t>
            </a:r>
            <a:r>
              <a:rPr lang="en-US" altLang="zh-CN" sz="2000" b="0" dirty="0" err="1"/>
              <a:t>num</a:t>
            </a:r>
            <a:r>
              <a:rPr lang="en-US" altLang="zh-CN" sz="2000" b="0" dirty="0"/>
              <a:t>)],radius=["40%", "55%"],center=[620,220],</a:t>
            </a:r>
            <a:r>
              <a:rPr lang="en-US" altLang="zh-CN" sz="2000" b="0" dirty="0" err="1"/>
              <a:t>rosetype</a:t>
            </a:r>
            <a:r>
              <a:rPr lang="en-US" altLang="zh-CN" sz="2000" b="0" dirty="0"/>
              <a:t>='area')</a:t>
            </a:r>
            <a:endParaRPr lang="zh-CN" altLang="zh-CN" sz="2000" b="0" dirty="0"/>
          </a:p>
          <a:p>
            <a:pPr algn="l">
              <a:lnSpc>
                <a:spcPct val="120000"/>
              </a:lnSpc>
            </a:pPr>
            <a:r>
              <a:rPr lang="en-US" altLang="zh-CN" sz="2000" b="0" dirty="0" err="1"/>
              <a:t>c.set_global_opts</a:t>
            </a:r>
            <a:r>
              <a:rPr lang="en-US" altLang="zh-CN" sz="2000" b="0" dirty="0"/>
              <a:t>(</a:t>
            </a:r>
            <a:r>
              <a:rPr lang="en-US" altLang="zh-CN" sz="2000" b="0" dirty="0" err="1"/>
              <a:t>title_opts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opts.TitleOpts</a:t>
            </a:r>
            <a:r>
              <a:rPr lang="en-US" altLang="zh-CN" sz="2000" b="0" dirty="0"/>
              <a:t>(title="</a:t>
            </a:r>
            <a:r>
              <a:rPr lang="zh-CN" altLang="zh-CN" sz="2000" b="0" dirty="0"/>
              <a:t>玫瑰图</a:t>
            </a:r>
            <a:r>
              <a:rPr lang="en-US" altLang="zh-CN" sz="2000" b="0" dirty="0"/>
              <a:t>"))</a:t>
            </a:r>
            <a:endParaRPr lang="zh-CN" altLang="zh-CN" sz="2000" b="0" dirty="0"/>
          </a:p>
          <a:p>
            <a:pPr algn="l">
              <a:lnSpc>
                <a:spcPct val="120000"/>
              </a:lnSpc>
            </a:pPr>
            <a:r>
              <a:rPr lang="en-US" altLang="zh-CN" sz="2000" b="0" dirty="0" err="1"/>
              <a:t>c.render_notebook</a:t>
            </a:r>
            <a:r>
              <a:rPr lang="en-US" altLang="zh-CN" sz="2000" b="0" dirty="0"/>
              <a:t>()</a:t>
            </a:r>
            <a:endParaRPr lang="zh-CN" altLang="en-US" sz="2000" b="0" dirty="0"/>
          </a:p>
        </p:txBody>
      </p:sp>
      <p:pic>
        <p:nvPicPr>
          <p:cNvPr id="1536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908720"/>
            <a:ext cx="4443863" cy="2404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928741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18184" y="891638"/>
            <a:ext cx="774035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x-none" altLang="zh-CN" sz="2000" dirty="0"/>
              <a:t>3 漏斗图</a:t>
            </a:r>
            <a:endParaRPr lang="zh-CN" altLang="zh-CN" sz="2000" dirty="0"/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0" dirty="0" err="1"/>
              <a:t>pyecharts</a:t>
            </a:r>
            <a:r>
              <a:rPr lang="zh-CN" altLang="zh-CN" sz="2000" b="0" dirty="0"/>
              <a:t>中通过</a:t>
            </a:r>
            <a:r>
              <a:rPr lang="en-US" altLang="zh-CN" sz="2000" b="0" dirty="0"/>
              <a:t>Funnel</a:t>
            </a:r>
            <a:r>
              <a:rPr lang="zh-CN" altLang="zh-CN" sz="2000" b="0" dirty="0"/>
              <a:t>绘制漏斗图。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zh-CN" altLang="zh-CN" sz="2000" b="0" dirty="0"/>
              <a:t>【例</a:t>
            </a:r>
            <a:r>
              <a:rPr lang="en-US" altLang="zh-CN" sz="2000" b="0" dirty="0"/>
              <a:t>8-8</a:t>
            </a:r>
            <a:r>
              <a:rPr lang="zh-CN" altLang="zh-CN" sz="2000" b="0" dirty="0"/>
              <a:t>】漏斗图绘制。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85033" y="2211963"/>
            <a:ext cx="874846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pyecharts.charts</a:t>
            </a:r>
            <a:r>
              <a:rPr lang="en-US" altLang="zh-CN" sz="2000" b="0" dirty="0"/>
              <a:t> import Funnel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</a:t>
            </a:r>
            <a:r>
              <a:rPr lang="en-US" altLang="zh-CN" sz="2000" b="0" dirty="0"/>
              <a:t> import options as opts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%</a:t>
            </a:r>
            <a:r>
              <a:rPr lang="en-US" altLang="zh-CN" sz="2000" b="0" dirty="0" err="1"/>
              <a:t>matplotlib</a:t>
            </a:r>
            <a:r>
              <a:rPr lang="en-US" altLang="zh-CN" sz="2000" b="0" dirty="0"/>
              <a:t> inline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data = [45,86,39,52,68]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labels = ['</a:t>
            </a:r>
            <a:r>
              <a:rPr lang="zh-CN" altLang="zh-CN" sz="2000" b="0" dirty="0"/>
              <a:t>电脑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手机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彩电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冰箱</a:t>
            </a:r>
            <a:r>
              <a:rPr lang="en-US" altLang="zh-CN" sz="2000" b="0" dirty="0"/>
              <a:t>','</a:t>
            </a:r>
            <a:r>
              <a:rPr lang="zh-CN" altLang="zh-CN" sz="2000" b="0" dirty="0"/>
              <a:t>洗衣机</a:t>
            </a:r>
            <a:r>
              <a:rPr lang="en-US" altLang="zh-CN" sz="2000" b="0" dirty="0"/>
              <a:t>']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wf</a:t>
            </a:r>
            <a:r>
              <a:rPr lang="en-US" altLang="zh-CN" sz="2000" b="0" dirty="0"/>
              <a:t> = Funnel()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wf.add</a:t>
            </a:r>
            <a:r>
              <a:rPr lang="en-US" altLang="zh-CN" sz="2000" b="0" dirty="0"/>
              <a:t>('</a:t>
            </a:r>
            <a:r>
              <a:rPr lang="zh-CN" altLang="zh-CN" sz="2000" b="0" dirty="0"/>
              <a:t>电器销量图</a:t>
            </a:r>
            <a:r>
              <a:rPr lang="en-US" altLang="zh-CN" sz="2000" b="0" dirty="0"/>
              <a:t>',[list(z) for z in zip(labels, data)], </a:t>
            </a:r>
            <a:r>
              <a:rPr lang="en-US" altLang="zh-CN" sz="2000" b="0" dirty="0" err="1"/>
              <a:t>is_selected</a:t>
            </a:r>
            <a:r>
              <a:rPr lang="en-US" altLang="zh-CN" sz="2000" b="0" dirty="0"/>
              <a:t>= True)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wf.render_notebook</a:t>
            </a:r>
            <a:r>
              <a:rPr lang="en-US" altLang="zh-CN" sz="2000" b="0" dirty="0"/>
              <a:t>()</a:t>
            </a:r>
            <a:endParaRPr lang="zh-CN" altLang="en-US" sz="2000" b="0" dirty="0"/>
          </a:p>
        </p:txBody>
      </p:sp>
      <p:pic>
        <p:nvPicPr>
          <p:cNvPr id="1638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8" y="4470634"/>
            <a:ext cx="4523234" cy="2325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68729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18184" y="1052736"/>
            <a:ext cx="77403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/>
              <a:t>4</a:t>
            </a:r>
            <a:r>
              <a:rPr lang="x-none" altLang="zh-CN" sz="2000" dirty="0"/>
              <a:t> </a:t>
            </a:r>
            <a:r>
              <a:rPr lang="x-none" altLang="zh-CN" sz="2000" dirty="0"/>
              <a:t>散点图</a:t>
            </a:r>
            <a:endParaRPr lang="zh-CN" altLang="zh-CN" sz="2000" dirty="0"/>
          </a:p>
          <a:p>
            <a:pPr algn="l"/>
            <a:r>
              <a:rPr lang="en-US" altLang="zh-CN" sz="2000" b="0" dirty="0" err="1"/>
              <a:t>pyecharts</a:t>
            </a:r>
            <a:r>
              <a:rPr lang="zh-CN" altLang="zh-CN" sz="2000" b="0" dirty="0"/>
              <a:t>利用</a:t>
            </a:r>
            <a:r>
              <a:rPr lang="en-US" altLang="zh-CN" sz="2000" b="0" dirty="0"/>
              <a:t>Scatter</a:t>
            </a:r>
            <a:r>
              <a:rPr lang="zh-CN" altLang="zh-CN" sz="2000" b="0" dirty="0"/>
              <a:t>绘制散点图。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14128" y="1817668"/>
            <a:ext cx="874846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</a:t>
            </a:r>
            <a:r>
              <a:rPr lang="en-US" altLang="zh-CN" sz="2000" b="0" dirty="0"/>
              <a:t> import options as opts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pyecharts.charts</a:t>
            </a:r>
            <a:r>
              <a:rPr lang="en-US" altLang="zh-CN" sz="2000" b="0" dirty="0"/>
              <a:t> import Scatter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week = ["</a:t>
            </a:r>
            <a:r>
              <a:rPr lang="zh-CN" altLang="zh-CN" sz="2000" b="0" dirty="0"/>
              <a:t>周一</a:t>
            </a:r>
            <a:r>
              <a:rPr lang="en-US" altLang="zh-CN" sz="2000" b="0" dirty="0"/>
              <a:t>", "</a:t>
            </a:r>
            <a:r>
              <a:rPr lang="zh-CN" altLang="zh-CN" sz="2000" b="0" dirty="0"/>
              <a:t>周二</a:t>
            </a:r>
            <a:r>
              <a:rPr lang="en-US" altLang="zh-CN" sz="2000" b="0" dirty="0"/>
              <a:t>", "</a:t>
            </a:r>
            <a:r>
              <a:rPr lang="zh-CN" altLang="zh-CN" sz="2000" b="0" dirty="0"/>
              <a:t>周三</a:t>
            </a:r>
            <a:r>
              <a:rPr lang="en-US" altLang="zh-CN" sz="2000" b="0" dirty="0"/>
              <a:t>", "</a:t>
            </a:r>
            <a:r>
              <a:rPr lang="zh-CN" altLang="zh-CN" sz="2000" b="0" dirty="0"/>
              <a:t>周四</a:t>
            </a:r>
            <a:r>
              <a:rPr lang="en-US" altLang="zh-CN" sz="2000" b="0" dirty="0"/>
              <a:t>", "</a:t>
            </a:r>
            <a:r>
              <a:rPr lang="zh-CN" altLang="zh-CN" sz="2000" b="0" dirty="0"/>
              <a:t>周五</a:t>
            </a:r>
            <a:r>
              <a:rPr lang="en-US" altLang="zh-CN" sz="2000" b="0" dirty="0"/>
              <a:t>", "</a:t>
            </a:r>
            <a:r>
              <a:rPr lang="zh-CN" altLang="zh-CN" sz="2000" b="0" dirty="0"/>
              <a:t>周六</a:t>
            </a:r>
            <a:r>
              <a:rPr lang="en-US" altLang="zh-CN" sz="2000" b="0" dirty="0"/>
              <a:t>", "</a:t>
            </a:r>
            <a:r>
              <a:rPr lang="zh-CN" altLang="zh-CN" sz="2000" b="0" dirty="0"/>
              <a:t>周日</a:t>
            </a:r>
            <a:r>
              <a:rPr lang="en-US" altLang="zh-CN" sz="2000" b="0" dirty="0"/>
              <a:t>"]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c = Scatter()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c.add_xaxis</a:t>
            </a:r>
            <a:r>
              <a:rPr lang="en-US" altLang="zh-CN" sz="2000" b="0" dirty="0"/>
              <a:t>(week)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c.add_yaxis</a:t>
            </a:r>
            <a:r>
              <a:rPr lang="en-US" altLang="zh-CN" sz="2000" b="0" dirty="0"/>
              <a:t>("</a:t>
            </a:r>
            <a:r>
              <a:rPr lang="zh-CN" altLang="zh-CN" sz="2000" b="0" dirty="0"/>
              <a:t>商家</a:t>
            </a:r>
            <a:r>
              <a:rPr lang="en-US" altLang="zh-CN" sz="2000" b="0" dirty="0"/>
              <a:t>A", [81,65,48,32,68,92,87])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c.set_global_opts</a:t>
            </a:r>
            <a:r>
              <a:rPr lang="en-US" altLang="zh-CN" sz="2000" b="0" dirty="0"/>
              <a:t>(</a:t>
            </a:r>
            <a:r>
              <a:rPr lang="en-US" altLang="zh-CN" sz="2000" b="0" dirty="0" err="1"/>
              <a:t>title_opts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opts.TitleOpts</a:t>
            </a:r>
            <a:r>
              <a:rPr lang="en-US" altLang="zh-CN" sz="2000" b="0" dirty="0"/>
              <a:t>(title="Scatter-</a:t>
            </a:r>
            <a:r>
              <a:rPr lang="zh-CN" altLang="zh-CN" sz="2000" b="0" dirty="0"/>
              <a:t>一周的销售额（万元）</a:t>
            </a:r>
            <a:r>
              <a:rPr lang="en-US" altLang="zh-CN" sz="2000" b="0" dirty="0"/>
              <a:t>"))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c.render_notebook</a:t>
            </a:r>
            <a:r>
              <a:rPr lang="en-US" altLang="zh-CN" sz="2000" b="0" dirty="0"/>
              <a:t>()</a:t>
            </a:r>
            <a:endParaRPr lang="zh-CN" altLang="en-US" sz="2000" b="0" dirty="0"/>
          </a:p>
        </p:txBody>
      </p:sp>
      <p:pic>
        <p:nvPicPr>
          <p:cNvPr id="1741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984" y="4138515"/>
            <a:ext cx="4578350" cy="262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004209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18184" y="1052736"/>
            <a:ext cx="77403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/>
              <a:t>5</a:t>
            </a:r>
            <a:r>
              <a:rPr lang="x-none" altLang="zh-CN" sz="2000" dirty="0"/>
              <a:t> </a:t>
            </a:r>
            <a:r>
              <a:rPr lang="en-US" altLang="zh-CN" sz="2000" dirty="0"/>
              <a:t>K</a:t>
            </a:r>
            <a:r>
              <a:rPr lang="zh-CN" altLang="en-US" sz="2000" dirty="0"/>
              <a:t>线图</a:t>
            </a:r>
            <a:endParaRPr lang="zh-CN" altLang="zh-CN" sz="2000" dirty="0"/>
          </a:p>
          <a:p>
            <a:pPr algn="l"/>
            <a:r>
              <a:rPr lang="en-US" altLang="zh-CN" sz="2000" b="0" dirty="0" err="1"/>
              <a:t>pyecharts</a:t>
            </a:r>
            <a:r>
              <a:rPr lang="zh-CN" altLang="zh-CN" sz="2000" b="0" dirty="0"/>
              <a:t>利用</a:t>
            </a:r>
            <a:r>
              <a:rPr lang="en-US" altLang="zh-CN" sz="2000" b="0" dirty="0"/>
              <a:t>K</a:t>
            </a:r>
            <a:r>
              <a:rPr lang="en-US" altLang="zh-CN" sz="2000" b="0" dirty="0"/>
              <a:t>line</a:t>
            </a:r>
            <a:r>
              <a:rPr lang="zh-CN" altLang="zh-CN" sz="2000" b="0" dirty="0"/>
              <a:t>绘制</a:t>
            </a:r>
            <a:r>
              <a:rPr lang="en-US" altLang="zh-CN" sz="2000" b="0" dirty="0"/>
              <a:t>K</a:t>
            </a:r>
            <a:r>
              <a:rPr lang="zh-CN" altLang="en-US" sz="2000" b="0" dirty="0"/>
              <a:t>线</a:t>
            </a:r>
            <a:r>
              <a:rPr lang="zh-CN" altLang="zh-CN" sz="2000" b="0" dirty="0"/>
              <a:t>图</a:t>
            </a:r>
            <a:r>
              <a:rPr lang="zh-CN" altLang="zh-CN" sz="2000" b="0" dirty="0"/>
              <a:t>。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38203" y="1985762"/>
            <a:ext cx="7488832" cy="412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dirty="0"/>
              <a:t>from </a:t>
            </a:r>
            <a:r>
              <a:rPr lang="en-US" altLang="zh-CN" sz="2000" dirty="0" err="1"/>
              <a:t>pyecharts</a:t>
            </a:r>
            <a:r>
              <a:rPr lang="en-US" altLang="zh-CN" sz="2000" dirty="0"/>
              <a:t> import options as opts</a:t>
            </a:r>
            <a:endParaRPr lang="zh-CN" altLang="zh-CN" sz="2000" dirty="0"/>
          </a:p>
          <a:p>
            <a:pPr algn="l">
              <a:lnSpc>
                <a:spcPct val="120000"/>
              </a:lnSpc>
            </a:pPr>
            <a:r>
              <a:rPr lang="en-US" altLang="zh-CN" sz="2000" dirty="0"/>
              <a:t>from </a:t>
            </a:r>
            <a:r>
              <a:rPr lang="en-US" altLang="zh-CN" sz="2000" dirty="0" err="1"/>
              <a:t>pyecharts.charts</a:t>
            </a:r>
            <a:r>
              <a:rPr lang="en-US" altLang="zh-CN" sz="2000" dirty="0"/>
              <a:t> import Kline</a:t>
            </a:r>
            <a:endParaRPr lang="zh-CN" altLang="zh-CN" sz="2000" dirty="0"/>
          </a:p>
          <a:p>
            <a:pPr algn="l">
              <a:lnSpc>
                <a:spcPct val="120000"/>
              </a:lnSpc>
            </a:pPr>
            <a:r>
              <a:rPr lang="en-US" altLang="zh-CN" sz="2000" dirty="0"/>
              <a:t>data = [[2320.26, 2320.26, 2287.3, 2362.94],[2300, 2291.3, 2288.26, 2308.38],[2295.35, 2346.5, 2295.35, 2345.92</a:t>
            </a:r>
            <a:r>
              <a:rPr lang="en-US" altLang="zh-CN" sz="2000" dirty="0"/>
              <a:t>],--------]</a:t>
            </a:r>
          </a:p>
          <a:p>
            <a:pPr algn="l">
              <a:lnSpc>
                <a:spcPct val="120000"/>
              </a:lnSpc>
            </a:pPr>
            <a:r>
              <a:rPr lang="en-US" altLang="zh-CN" sz="2000" dirty="0"/>
              <a:t>c = Kline()</a:t>
            </a:r>
            <a:endParaRPr lang="zh-CN" altLang="zh-CN" sz="2000" dirty="0"/>
          </a:p>
          <a:p>
            <a:pPr algn="l">
              <a:lnSpc>
                <a:spcPct val="120000"/>
              </a:lnSpc>
            </a:pPr>
            <a:r>
              <a:rPr lang="en-US" altLang="zh-CN" sz="2000" dirty="0" err="1"/>
              <a:t>c.add_xaxis</a:t>
            </a:r>
            <a:r>
              <a:rPr lang="en-US" altLang="zh-CN" sz="2000" dirty="0"/>
              <a:t>(["2019/7/{}".format(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+ 1) 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in range(31)])</a:t>
            </a:r>
            <a:endParaRPr lang="zh-CN" altLang="zh-CN" sz="2000" dirty="0"/>
          </a:p>
          <a:p>
            <a:pPr algn="l">
              <a:lnSpc>
                <a:spcPct val="120000"/>
              </a:lnSpc>
            </a:pPr>
            <a:r>
              <a:rPr lang="en-US" altLang="zh-CN" sz="2000" dirty="0" err="1"/>
              <a:t>c.add_yaxis</a:t>
            </a:r>
            <a:r>
              <a:rPr lang="en-US" altLang="zh-CN" sz="2000" dirty="0"/>
              <a:t>("2019</a:t>
            </a:r>
            <a:r>
              <a:rPr lang="zh-CN" altLang="zh-CN" sz="2000" dirty="0"/>
              <a:t>年</a:t>
            </a:r>
            <a:r>
              <a:rPr lang="en-US" altLang="zh-CN" sz="2000" dirty="0"/>
              <a:t>7</a:t>
            </a:r>
            <a:r>
              <a:rPr lang="zh-CN" altLang="zh-CN" sz="2000" dirty="0"/>
              <a:t>月份</a:t>
            </a:r>
            <a:r>
              <a:rPr lang="en-US" altLang="zh-CN" sz="2000" dirty="0"/>
              <a:t>K</a:t>
            </a:r>
            <a:r>
              <a:rPr lang="zh-CN" altLang="zh-CN" sz="2000" dirty="0"/>
              <a:t>线图</a:t>
            </a:r>
            <a:r>
              <a:rPr lang="en-US" altLang="zh-CN" sz="2000" dirty="0"/>
              <a:t>", data)</a:t>
            </a:r>
            <a:endParaRPr lang="zh-CN" altLang="zh-CN" sz="2000" dirty="0"/>
          </a:p>
          <a:p>
            <a:pPr algn="l">
              <a:lnSpc>
                <a:spcPct val="120000"/>
              </a:lnSpc>
            </a:pPr>
            <a:r>
              <a:rPr lang="en-US" altLang="zh-CN" sz="2000" dirty="0" err="1"/>
              <a:t>c.set_global_opts</a:t>
            </a:r>
            <a:r>
              <a:rPr lang="en-US" altLang="zh-CN" sz="2000" dirty="0"/>
              <a:t>(</a:t>
            </a:r>
            <a:r>
              <a:rPr lang="en-US" altLang="zh-CN" sz="2000" dirty="0" err="1"/>
              <a:t>yaxis_opts</a:t>
            </a:r>
            <a:r>
              <a:rPr lang="en-US" altLang="zh-CN" sz="2000" dirty="0"/>
              <a:t>=</a:t>
            </a:r>
            <a:r>
              <a:rPr lang="en-US" altLang="zh-CN" sz="2000" dirty="0" err="1"/>
              <a:t>opts.AxisOpts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is_scale</a:t>
            </a:r>
            <a:r>
              <a:rPr lang="en-US" altLang="zh-CN" sz="2000" dirty="0"/>
              <a:t>=True),</a:t>
            </a:r>
            <a:endParaRPr lang="zh-CN" altLang="zh-CN" sz="2000" dirty="0"/>
          </a:p>
          <a:p>
            <a:pPr algn="l">
              <a:lnSpc>
                <a:spcPct val="120000"/>
              </a:lnSpc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xaxis_opts</a:t>
            </a:r>
            <a:r>
              <a:rPr lang="en-US" altLang="zh-CN" sz="2000" dirty="0"/>
              <a:t>=</a:t>
            </a:r>
            <a:r>
              <a:rPr lang="en-US" altLang="zh-CN" sz="2000" dirty="0" err="1"/>
              <a:t>opts.AxisOpts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is_scale</a:t>
            </a:r>
            <a:r>
              <a:rPr lang="en-US" altLang="zh-CN" sz="2000" dirty="0"/>
              <a:t>=True),</a:t>
            </a:r>
            <a:endParaRPr lang="zh-CN" altLang="zh-CN" sz="2000" dirty="0"/>
          </a:p>
          <a:p>
            <a:pPr algn="l">
              <a:lnSpc>
                <a:spcPct val="120000"/>
              </a:lnSpc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title_opts</a:t>
            </a:r>
            <a:r>
              <a:rPr lang="en-US" altLang="zh-CN" sz="2000" dirty="0"/>
              <a:t>=</a:t>
            </a:r>
            <a:r>
              <a:rPr lang="en-US" altLang="zh-CN" sz="2000" dirty="0" err="1"/>
              <a:t>opts.TitleOpts</a:t>
            </a:r>
            <a:r>
              <a:rPr lang="en-US" altLang="zh-CN" sz="2000" dirty="0"/>
              <a:t>(title="Kline-</a:t>
            </a:r>
            <a:r>
              <a:rPr lang="zh-CN" altLang="zh-CN" sz="2000" dirty="0"/>
              <a:t>基本示例</a:t>
            </a:r>
            <a:r>
              <a:rPr lang="en-US" altLang="zh-CN" sz="2000" dirty="0"/>
              <a:t>"),)</a:t>
            </a:r>
            <a:endParaRPr lang="zh-CN" altLang="zh-CN" sz="2000" dirty="0"/>
          </a:p>
          <a:p>
            <a:pPr algn="l">
              <a:lnSpc>
                <a:spcPct val="120000"/>
              </a:lnSpc>
            </a:pPr>
            <a:r>
              <a:rPr lang="en-US" altLang="zh-CN" sz="2000" dirty="0" err="1"/>
              <a:t>c.render_notebook</a:t>
            </a:r>
            <a:r>
              <a:rPr lang="en-US" altLang="zh-CN" sz="2000" dirty="0"/>
              <a:t>()</a:t>
            </a:r>
            <a:endParaRPr lang="zh-CN" altLang="en-US" sz="2000" b="0" dirty="0"/>
          </a:p>
        </p:txBody>
      </p:sp>
      <p:pic>
        <p:nvPicPr>
          <p:cNvPr id="1843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664" y="1196752"/>
            <a:ext cx="4306336" cy="2461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238535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18184" y="1052736"/>
            <a:ext cx="77403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/>
              <a:t>6</a:t>
            </a:r>
            <a:r>
              <a:rPr lang="en-US" altLang="zh-CN" sz="2000" dirty="0"/>
              <a:t> </a:t>
            </a:r>
            <a:r>
              <a:rPr lang="zh-CN" altLang="en-US" sz="2000" dirty="0"/>
              <a:t>仪表盘</a:t>
            </a:r>
            <a:endParaRPr lang="zh-CN" altLang="zh-CN" sz="2000" dirty="0"/>
          </a:p>
          <a:p>
            <a:pPr algn="l"/>
            <a:r>
              <a:rPr lang="en-US" altLang="zh-CN" sz="2000" b="0" dirty="0" err="1"/>
              <a:t>pyecharts</a:t>
            </a:r>
            <a:r>
              <a:rPr lang="zh-CN" altLang="zh-CN" sz="2000" b="0" dirty="0"/>
              <a:t>利用</a:t>
            </a:r>
            <a:r>
              <a:rPr lang="en-US" altLang="zh-CN" sz="2000" dirty="0"/>
              <a:t>Gauge</a:t>
            </a:r>
            <a:r>
              <a:rPr lang="zh-CN" altLang="zh-CN" sz="2000" dirty="0"/>
              <a:t>绘制仪表盘</a:t>
            </a:r>
            <a:r>
              <a:rPr lang="zh-CN" altLang="zh-CN" sz="2000" dirty="0"/>
              <a:t>。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0336" y="1988840"/>
            <a:ext cx="874846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</a:t>
            </a:r>
            <a:r>
              <a:rPr lang="en-US" altLang="zh-CN" sz="2000" b="0" dirty="0"/>
              <a:t> import options as opts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pyecharts.charts</a:t>
            </a:r>
            <a:r>
              <a:rPr lang="en-US" altLang="zh-CN" sz="2000" b="0" dirty="0"/>
              <a:t> import Gauge, Page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c = Gauge()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c.add</a:t>
            </a:r>
            <a:r>
              <a:rPr lang="en-US" altLang="zh-CN" sz="2000" b="0" dirty="0"/>
              <a:t>("</a:t>
            </a:r>
            <a:r>
              <a:rPr lang="zh-CN" altLang="zh-CN" sz="2000" b="0" dirty="0"/>
              <a:t>业务指标</a:t>
            </a:r>
            <a:r>
              <a:rPr lang="en-US" altLang="zh-CN" sz="2000" b="0" dirty="0"/>
              <a:t>",[("</a:t>
            </a:r>
            <a:r>
              <a:rPr lang="zh-CN" altLang="zh-CN" sz="2000" b="0" dirty="0"/>
              <a:t>完成率</a:t>
            </a:r>
            <a:r>
              <a:rPr lang="en-US" altLang="zh-CN" sz="2000" b="0" dirty="0"/>
              <a:t>", 55.5)],</a:t>
            </a:r>
            <a:r>
              <a:rPr lang="en-US" altLang="zh-CN" sz="2000" b="0" dirty="0" err="1"/>
              <a:t>axisline_opts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opts.AxisLineOpts</a:t>
            </a:r>
            <a:r>
              <a:rPr lang="en-US" altLang="zh-CN" sz="2000" b="0" dirty="0"/>
              <a:t>(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linestyle_opts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opts.LineStyleOpts</a:t>
            </a:r>
            <a:r>
              <a:rPr lang="en-US" altLang="zh-CN" sz="2000" b="0" dirty="0"/>
              <a:t>(color=[(0.3, "#67e0e3"),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 (0.7, "#37a2da"), (1, "#fd666d")], width=30)))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c.set_global_opts</a:t>
            </a:r>
            <a:r>
              <a:rPr lang="en-US" altLang="zh-CN" sz="2000" b="0" dirty="0"/>
              <a:t>(</a:t>
            </a:r>
            <a:r>
              <a:rPr lang="en-US" altLang="zh-CN" sz="2000" b="0" dirty="0" err="1"/>
              <a:t>title_opts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opts.TitleOpts</a:t>
            </a:r>
            <a:r>
              <a:rPr lang="en-US" altLang="zh-CN" sz="2000" b="0" dirty="0"/>
              <a:t>(title="Gauge-</a:t>
            </a:r>
            <a:r>
              <a:rPr lang="zh-CN" altLang="zh-CN" sz="2000" b="0" dirty="0"/>
              <a:t>不同颜色</a:t>
            </a:r>
            <a:r>
              <a:rPr lang="en-US" altLang="zh-CN" sz="2000" b="0" dirty="0"/>
              <a:t>"),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 </a:t>
            </a:r>
            <a:r>
              <a:rPr lang="en-US" altLang="zh-CN" sz="2000" b="0" dirty="0" err="1"/>
              <a:t>legend_opts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opts.LegendOpts</a:t>
            </a:r>
            <a:r>
              <a:rPr lang="en-US" altLang="zh-CN" sz="2000" b="0" dirty="0"/>
              <a:t>(</a:t>
            </a:r>
            <a:r>
              <a:rPr lang="en-US" altLang="zh-CN" sz="2000" b="0" dirty="0" err="1"/>
              <a:t>is_show</a:t>
            </a:r>
            <a:r>
              <a:rPr lang="en-US" altLang="zh-CN" sz="2000" b="0" dirty="0"/>
              <a:t>=False)) 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c.render_notebook</a:t>
            </a:r>
            <a:r>
              <a:rPr lang="en-US" altLang="zh-CN" sz="2000" b="0" dirty="0"/>
              <a:t>()</a:t>
            </a:r>
            <a:endParaRPr lang="zh-CN" altLang="en-US" sz="2000" b="0" dirty="0"/>
          </a:p>
        </p:txBody>
      </p:sp>
      <p:pic>
        <p:nvPicPr>
          <p:cNvPr id="1945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00" y="4284959"/>
            <a:ext cx="3876154" cy="2071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66694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17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775520" y="997496"/>
            <a:ext cx="77403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/>
              <a:t>7 </a:t>
            </a:r>
            <a:r>
              <a:rPr lang="zh-CN" altLang="en-US" sz="2000" dirty="0"/>
              <a:t>词云</a:t>
            </a:r>
            <a:endParaRPr lang="zh-CN" altLang="zh-CN" sz="2000" dirty="0"/>
          </a:p>
          <a:p>
            <a:pPr algn="l"/>
            <a:r>
              <a:rPr lang="en-US" altLang="zh-CN" sz="2000" b="0" dirty="0" err="1"/>
              <a:t>Pyecharts</a:t>
            </a:r>
            <a:r>
              <a:rPr lang="zh-CN" altLang="en-US" sz="2000" b="0" dirty="0"/>
              <a:t>利用</a:t>
            </a:r>
            <a:r>
              <a:rPr lang="en-US" altLang="zh-CN" sz="2000" dirty="0" err="1"/>
              <a:t>WordCloud</a:t>
            </a:r>
            <a:r>
              <a:rPr lang="zh-CN" altLang="zh-CN" sz="2000" dirty="0"/>
              <a:t>绘制词云</a:t>
            </a:r>
            <a:r>
              <a:rPr lang="zh-CN" altLang="zh-CN" sz="2000" dirty="0"/>
              <a:t>。</a:t>
            </a:r>
            <a:endParaRPr lang="zh-CN" altLang="en-US" sz="20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5440" y="1672554"/>
            <a:ext cx="87484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</a:t>
            </a:r>
            <a:r>
              <a:rPr lang="en-US" altLang="zh-CN" sz="2000" b="0" dirty="0"/>
              <a:t> import options as opts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pyecharts.charts</a:t>
            </a:r>
            <a:r>
              <a:rPr lang="en-US" altLang="zh-CN" sz="2000" b="0" dirty="0"/>
              <a:t> import Page, </a:t>
            </a:r>
            <a:r>
              <a:rPr lang="en-US" altLang="zh-CN" sz="2000" b="0" dirty="0" err="1"/>
              <a:t>WordCloud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from </a:t>
            </a:r>
            <a:r>
              <a:rPr lang="en-US" altLang="zh-CN" sz="2000" b="0" dirty="0" err="1"/>
              <a:t>pyecharts.globals</a:t>
            </a:r>
            <a:r>
              <a:rPr lang="en-US" altLang="zh-CN" sz="2000" b="0" dirty="0"/>
              <a:t> import </a:t>
            </a:r>
            <a:r>
              <a:rPr lang="en-US" altLang="zh-CN" sz="2000" b="0" dirty="0" err="1"/>
              <a:t>SymbolType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words = [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    ("</a:t>
            </a:r>
            <a:r>
              <a:rPr lang="zh-CN" altLang="zh-CN" sz="2000" b="0" dirty="0"/>
              <a:t>牛肉面</a:t>
            </a:r>
            <a:r>
              <a:rPr lang="en-US" altLang="zh-CN" sz="2000" b="0" dirty="0"/>
              <a:t>", 7800),("</a:t>
            </a:r>
            <a:r>
              <a:rPr lang="zh-CN" altLang="zh-CN" sz="2000" b="0" dirty="0"/>
              <a:t>黄河</a:t>
            </a:r>
            <a:r>
              <a:rPr lang="en-US" altLang="zh-CN" sz="2000" b="0" dirty="0"/>
              <a:t>", 6181),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    ("</a:t>
            </a:r>
            <a:r>
              <a:rPr lang="zh-CN" altLang="zh-CN" sz="2000" b="0" dirty="0"/>
              <a:t>《读者》杂志</a:t>
            </a:r>
            <a:r>
              <a:rPr lang="en-US" altLang="zh-CN" sz="2000" b="0" dirty="0"/>
              <a:t>", 4386), ("</a:t>
            </a:r>
            <a:r>
              <a:rPr lang="zh-CN" altLang="zh-CN" sz="2000" b="0" dirty="0"/>
              <a:t>甜胚子</a:t>
            </a:r>
            <a:r>
              <a:rPr lang="en-US" altLang="zh-CN" sz="2000" b="0" dirty="0"/>
              <a:t>", 3055</a:t>
            </a:r>
            <a:r>
              <a:rPr lang="en-US" altLang="zh-CN" sz="2000" b="0" dirty="0"/>
              <a:t>),</a:t>
            </a:r>
          </a:p>
          <a:p>
            <a:pPr algn="l"/>
            <a:r>
              <a:rPr lang="en-US" altLang="zh-CN" sz="2000" b="0" dirty="0"/>
              <a:t> </a:t>
            </a:r>
            <a:r>
              <a:rPr lang="en-US" altLang="zh-CN" sz="2000" b="0" dirty="0"/>
              <a:t>      ---------,</a:t>
            </a:r>
          </a:p>
          <a:p>
            <a:pPr algn="l"/>
            <a:r>
              <a:rPr lang="en-US" altLang="zh-CN" sz="2000" b="0" dirty="0"/>
              <a:t> </a:t>
            </a:r>
            <a:r>
              <a:rPr lang="en-US" altLang="zh-CN" sz="2000" b="0" dirty="0"/>
              <a:t>     ("</a:t>
            </a:r>
            <a:r>
              <a:rPr lang="zh-CN" altLang="zh-CN" sz="2000" b="0" dirty="0"/>
              <a:t>五泉山</a:t>
            </a:r>
            <a:r>
              <a:rPr lang="en-US" altLang="zh-CN" sz="2000" b="0" dirty="0"/>
              <a:t>", 2550)]</a:t>
            </a:r>
            <a:endParaRPr lang="zh-CN" altLang="zh-CN" sz="2000" b="0" dirty="0"/>
          </a:p>
          <a:p>
            <a:pPr algn="l"/>
            <a:r>
              <a:rPr lang="en-US" altLang="zh-CN" sz="2000" b="0" dirty="0"/>
              <a:t>c = </a:t>
            </a:r>
            <a:r>
              <a:rPr lang="en-US" altLang="zh-CN" sz="2000" b="0" dirty="0" err="1"/>
              <a:t>WordCloud</a:t>
            </a:r>
            <a:r>
              <a:rPr lang="en-US" altLang="zh-CN" sz="2000" b="0" dirty="0"/>
              <a:t>()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c.add</a:t>
            </a:r>
            <a:r>
              <a:rPr lang="en-US" altLang="zh-CN" sz="2000" b="0" dirty="0"/>
              <a:t>("", words, </a:t>
            </a:r>
            <a:r>
              <a:rPr lang="en-US" altLang="zh-CN" sz="2000" b="0" dirty="0" err="1"/>
              <a:t>word_size_range</a:t>
            </a:r>
            <a:r>
              <a:rPr lang="en-US" altLang="zh-CN" sz="2000" b="0" dirty="0"/>
              <a:t>=[20, 80])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c.set_global_opts</a:t>
            </a:r>
            <a:r>
              <a:rPr lang="en-US" altLang="zh-CN" sz="2000" b="0" dirty="0"/>
              <a:t>(</a:t>
            </a:r>
            <a:r>
              <a:rPr lang="en-US" altLang="zh-CN" sz="2000" b="0" dirty="0" err="1"/>
              <a:t>title_opts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opts.TitleOpts</a:t>
            </a:r>
            <a:r>
              <a:rPr lang="en-US" altLang="zh-CN" sz="2000" b="0" dirty="0"/>
              <a:t>(title="</a:t>
            </a:r>
            <a:r>
              <a:rPr lang="en-US" altLang="zh-CN" sz="2000" b="0" dirty="0" err="1"/>
              <a:t>WordCloud</a:t>
            </a:r>
            <a:r>
              <a:rPr lang="en-US" altLang="zh-CN" sz="2000" b="0" dirty="0"/>
              <a:t>-</a:t>
            </a:r>
            <a:r>
              <a:rPr lang="zh-CN" altLang="zh-CN" sz="2000" b="0" dirty="0"/>
              <a:t>基本示例</a:t>
            </a:r>
            <a:r>
              <a:rPr lang="en-US" altLang="zh-CN" sz="2000" b="0" dirty="0"/>
              <a:t>"))</a:t>
            </a:r>
            <a:endParaRPr lang="zh-CN" altLang="zh-CN" sz="2000" b="0" dirty="0"/>
          </a:p>
          <a:p>
            <a:pPr algn="l"/>
            <a:r>
              <a:rPr lang="en-US" altLang="zh-CN" sz="2000" b="0" dirty="0" err="1"/>
              <a:t>c.render_notebook</a:t>
            </a:r>
            <a:r>
              <a:rPr lang="en-US" altLang="zh-CN" sz="2000" b="0" dirty="0"/>
              <a:t>()</a:t>
            </a:r>
            <a:endParaRPr lang="zh-CN" altLang="en-US" sz="2000" b="0" dirty="0"/>
          </a:p>
        </p:txBody>
      </p:sp>
      <p:pic>
        <p:nvPicPr>
          <p:cNvPr id="20482" name="图片 1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793" y="1313794"/>
            <a:ext cx="4992013" cy="25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753766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775520" y="997496"/>
            <a:ext cx="77403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 smtClean="0"/>
              <a:t>8 </a:t>
            </a:r>
            <a:r>
              <a:rPr lang="zh-CN" altLang="en-US" sz="2000" dirty="0"/>
              <a:t>组合图表</a:t>
            </a:r>
            <a:endParaRPr lang="zh-CN" altLang="zh-CN" sz="2000" dirty="0"/>
          </a:p>
          <a:p>
            <a:pPr algn="l"/>
            <a:endParaRPr lang="en-US" altLang="zh-CN" sz="2000" b="0" dirty="0" err="1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03512" y="1322939"/>
            <a:ext cx="6912768" cy="5078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9924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indent="304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zh-CN" sz="2000" b="0" dirty="0"/>
              <a:t>【例</a:t>
            </a:r>
            <a:r>
              <a:rPr lang="en-US" altLang="zh-CN" sz="2000" b="0" dirty="0"/>
              <a:t>8-14</a:t>
            </a:r>
            <a:r>
              <a:rPr lang="zh-CN" altLang="zh-CN" sz="2000" b="0" dirty="0"/>
              <a:t>】组合图表上下布局。</a:t>
            </a:r>
            <a:endParaRPr lang="en-US" altLang="zh-CN" sz="2000" b="0" dirty="0"/>
          </a:p>
        </p:txBody>
      </p:sp>
      <p:sp>
        <p:nvSpPr>
          <p:cNvPr id="2" name="矩形 1"/>
          <p:cNvSpPr/>
          <p:nvPr/>
        </p:nvSpPr>
        <p:spPr>
          <a:xfrm>
            <a:off x="2132484" y="2085515"/>
            <a:ext cx="5182716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algn="l">
              <a:lnSpc>
                <a:spcPct val="125000"/>
              </a:lnSpc>
              <a:spcAft>
                <a:spcPts val="0"/>
              </a:spcAft>
            </a:pPr>
            <a:r>
              <a:rPr lang="zh-CN" altLang="en-US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代码见课本</a:t>
            </a:r>
            <a:endParaRPr lang="zh-CN" altLang="en-US" dirty="0"/>
          </a:p>
        </p:txBody>
      </p:sp>
      <p:pic>
        <p:nvPicPr>
          <p:cNvPr id="23554" name="Picture 2" descr="第8章例8-14运行结果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824" y="2272300"/>
            <a:ext cx="6368752" cy="363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592012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6490" y="1124744"/>
            <a:ext cx="10972800" cy="4525963"/>
          </a:xfrm>
        </p:spPr>
        <p:txBody>
          <a:bodyPr/>
          <a:lstStyle/>
          <a:p>
            <a:r>
              <a:rPr lang="en-US" altLang="zh-CN" b="1" dirty="0" smtClean="0"/>
              <a:t>9 </a:t>
            </a:r>
            <a:r>
              <a:rPr lang="zh-CN" altLang="zh-CN" b="1" dirty="0" smtClean="0"/>
              <a:t>桑基图</a:t>
            </a:r>
            <a:endParaRPr lang="zh-CN" altLang="zh-CN" dirty="0"/>
          </a:p>
          <a:p>
            <a:r>
              <a:rPr lang="zh-CN" altLang="zh-CN" sz="2000" dirty="0"/>
              <a:t>桑基图</a:t>
            </a:r>
            <a:r>
              <a:rPr lang="en-US" altLang="zh-CN" sz="2000" dirty="0"/>
              <a:t>(Sankey diagram)</a:t>
            </a:r>
            <a:r>
              <a:rPr lang="zh-CN" altLang="zh-CN" sz="2000" dirty="0"/>
              <a:t>即桑基能量分流图，也叫桑基能量平衡图。它是一种特定类型的流程图，图中延伸的分支的宽度对应数据流量的大小，通常应用于能源、材料成分、金融等数据的可视化分析。</a:t>
            </a:r>
            <a:r>
              <a:rPr lang="en-US" altLang="zh-CN" sz="2000" dirty="0" err="1"/>
              <a:t>Pyecharts</a:t>
            </a:r>
            <a:r>
              <a:rPr lang="zh-CN" altLang="zh-CN" sz="2000" dirty="0"/>
              <a:t>中利用</a:t>
            </a:r>
            <a:r>
              <a:rPr lang="en-US" altLang="zh-CN" sz="2000" dirty="0"/>
              <a:t>Sankey</a:t>
            </a:r>
            <a:r>
              <a:rPr lang="zh-CN" altLang="zh-CN" sz="2000" dirty="0"/>
              <a:t>绘制桑基图</a:t>
            </a:r>
            <a:r>
              <a:rPr lang="zh-CN" altLang="zh-CN" sz="2000" dirty="0"/>
              <a:t>。</a:t>
            </a:r>
            <a:endParaRPr lang="en-US" altLang="zh-CN" sz="2000" dirty="0"/>
          </a:p>
          <a:p>
            <a:r>
              <a:rPr lang="zh-CN" altLang="en-US" sz="2000" dirty="0"/>
              <a:t>代码见课本</a:t>
            </a:r>
            <a:endParaRPr lang="zh-CN" altLang="en-US" sz="200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19</a:t>
            </a:fld>
            <a:endParaRPr lang="en-US" altLang="zh-CN"/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4871864" y="3563144"/>
            <a:ext cx="5112568" cy="274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2270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113108"/>
            <a:ext cx="10972800" cy="4525963"/>
          </a:xfrm>
        </p:spPr>
        <p:txBody>
          <a:bodyPr/>
          <a:lstStyle/>
          <a:p>
            <a:r>
              <a:rPr lang="en-US" altLang="zh-CN" b="1" dirty="0" smtClean="0"/>
              <a:t>10 </a:t>
            </a:r>
            <a:r>
              <a:rPr lang="zh-CN" altLang="zh-CN" sz="2000" b="1" dirty="0"/>
              <a:t>平行坐标</a:t>
            </a:r>
            <a:r>
              <a:rPr lang="zh-CN" altLang="zh-CN" sz="2000" b="1" dirty="0"/>
              <a:t>图</a:t>
            </a:r>
            <a:endParaRPr lang="zh-CN" altLang="zh-CN" sz="2000" dirty="0"/>
          </a:p>
          <a:p>
            <a:r>
              <a:rPr lang="zh-CN" altLang="zh-CN" sz="2000" dirty="0"/>
              <a:t>平行坐标图（</a:t>
            </a:r>
            <a:r>
              <a:rPr lang="en-US" altLang="zh-CN" sz="2000" dirty="0"/>
              <a:t>Parallel Coordinates Plot</a:t>
            </a:r>
            <a:r>
              <a:rPr lang="zh-CN" altLang="zh-CN" sz="2000" dirty="0"/>
              <a:t>）是对于具有多个属性问题的一种可视化方法。在平行坐标图中，数据集的一行数据在平行坐标图中用一条折线表示，纵向是属性值，横向是属性类别（用索引表示</a:t>
            </a:r>
            <a:r>
              <a:rPr lang="zh-CN" altLang="zh-CN" sz="2000" dirty="0"/>
              <a:t>）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代码见课本</a:t>
            </a:r>
            <a:endParaRPr lang="zh-CN" altLang="en-US" sz="200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20</a:t>
            </a:fld>
            <a:endParaRPr lang="en-US" altLang="zh-CN"/>
          </a:p>
        </p:txBody>
      </p:sp>
      <p:pic>
        <p:nvPicPr>
          <p:cNvPr id="8" name="图片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28048" y="3212976"/>
            <a:ext cx="4690864" cy="2594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249191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21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775520" y="997496"/>
            <a:ext cx="77403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 smtClean="0"/>
              <a:t>11 </a:t>
            </a:r>
            <a:r>
              <a:rPr lang="zh-CN" altLang="en-US" sz="2000" dirty="0"/>
              <a:t>地图</a:t>
            </a:r>
            <a:endParaRPr lang="zh-CN" altLang="zh-CN" sz="2000" dirty="0"/>
          </a:p>
          <a:p>
            <a:pPr algn="l"/>
            <a:endParaRPr lang="en-US" altLang="zh-CN" sz="2000" b="0" dirty="0" err="1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27448" y="1484785"/>
            <a:ext cx="9359813" cy="46628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9924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indent="304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cs typeface="宋体" panose="02010600030101010101" pitchFamily="2" charset="-122"/>
              </a:rPr>
              <a:t>自从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0.3.2 </a:t>
            </a:r>
            <a:r>
              <a:rPr lang="zh-CN" altLang="en-US" sz="2000" b="0" dirty="0">
                <a:latin typeface="Times New Roman" panose="02020603050405020304" pitchFamily="18" charset="0"/>
                <a:cs typeface="宋体" panose="02010600030101010101" pitchFamily="2" charset="-122"/>
              </a:rPr>
              <a:t>开始，为了缩减项目本身的体积以及维持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pyecharts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latin typeface="Times New Roman" panose="02020603050405020304" pitchFamily="18" charset="0"/>
                <a:cs typeface="宋体" panose="02010600030101010101" pitchFamily="2" charset="-122"/>
              </a:rPr>
              <a:t>项目的轻量化运行，</a:t>
            </a:r>
            <a:r>
              <a:rPr lang="en-US" altLang="zh-C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pyecharts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latin typeface="Times New Roman" panose="02020603050405020304" pitchFamily="18" charset="0"/>
                <a:cs typeface="宋体" panose="02010600030101010101" pitchFamily="2" charset="-122"/>
              </a:rPr>
              <a:t>将不再自带地图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latin typeface="Times New Roman" panose="02020603050405020304" pitchFamily="18" charset="0"/>
                <a:cs typeface="宋体" panose="02010600030101010101" pitchFamily="2" charset="-122"/>
              </a:rPr>
              <a:t>文件。如用户需要用到地图图表（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</a:t>
            </a:r>
            <a:r>
              <a:rPr lang="zh-CN" altLang="en-US" sz="2000" b="0" dirty="0">
                <a:latin typeface="Times New Roman" panose="02020603050405020304" pitchFamily="18" charset="0"/>
                <a:cs typeface="宋体" panose="02010600030101010101" pitchFamily="2" charset="-122"/>
              </a:rPr>
              <a:t>、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zh-CN" altLang="en-US" sz="2000" b="0" dirty="0">
                <a:latin typeface="Times New Roman" panose="02020603050405020304" pitchFamily="18" charset="0"/>
                <a:cs typeface="宋体" panose="02010600030101010101" pitchFamily="2" charset="-122"/>
              </a:rPr>
              <a:t>），可自行安装对应的地图文件包。</a:t>
            </a:r>
            <a:r>
              <a:rPr lang="zh-CN" altLang="en-US" sz="2000" b="0" dirty="0"/>
              <a:t> </a:t>
            </a:r>
            <a:endParaRPr lang="zh-CN" altLang="en-US" sz="2000" b="0" dirty="0">
              <a:cs typeface="宋体" panose="02010600030101010101" pitchFamily="2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下通过以下的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命令进行安装：</a:t>
            </a:r>
            <a:endParaRPr lang="zh-CN" altLang="en-US" sz="2000" b="0" dirty="0"/>
          </a:p>
          <a:p>
            <a:pPr indent="0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zh-CN" altLang="en-US" sz="2000" b="0" i="1" dirty="0" smtClean="0">
                <a:latin typeface="Times New Roman" panose="02020603050405020304" pitchFamily="18" charset="0"/>
                <a:cs typeface="宋体" panose="02010600030101010101" pitchFamily="2" charset="-122"/>
              </a:rPr>
              <a:t>安装全球国家地图，包括</a:t>
            </a:r>
            <a:r>
              <a:rPr lang="zh-CN" altLang="en-US" sz="2000" b="0" i="1" dirty="0">
                <a:latin typeface="Times New Roman" panose="02020603050405020304" pitchFamily="18" charset="0"/>
                <a:cs typeface="宋体" panose="02010600030101010101" pitchFamily="2" charset="-122"/>
              </a:rPr>
              <a:t>世界地图和</a:t>
            </a:r>
            <a:r>
              <a:rPr lang="zh-CN" altLang="en-US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213 </a:t>
            </a:r>
            <a:r>
              <a:rPr lang="zh-CN" altLang="en-US" sz="2000" b="0" i="1" dirty="0">
                <a:latin typeface="Times New Roman" panose="02020603050405020304" pitchFamily="18" charset="0"/>
                <a:cs typeface="宋体" panose="02010600030101010101" pitchFamily="2" charset="-122"/>
              </a:rPr>
              <a:t>个国家</a:t>
            </a:r>
            <a:endParaRPr lang="zh-CN" alt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altLang="zh-C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echarts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-countries-</a:t>
            </a:r>
            <a:r>
              <a:rPr lang="en-US" altLang="zh-C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pypkg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0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zh-CN" altLang="en-US" sz="2000" b="0" i="1" dirty="0" smtClean="0">
                <a:latin typeface="Times New Roman" panose="02020603050405020304" pitchFamily="18" charset="0"/>
                <a:cs typeface="宋体" panose="02010600030101010101" pitchFamily="2" charset="-122"/>
              </a:rPr>
              <a:t>安装中国省级地图，</a:t>
            </a:r>
            <a:r>
              <a:rPr lang="zh-CN" altLang="en-US" sz="2000" b="0" i="1" dirty="0">
                <a:latin typeface="Times New Roman" panose="02020603050405020304" pitchFamily="18" charset="0"/>
                <a:cs typeface="宋体" panose="02010600030101010101" pitchFamily="2" charset="-122"/>
              </a:rPr>
              <a:t>包括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</a:t>
            </a:r>
            <a:r>
              <a:rPr lang="zh-CN" altLang="en-US" sz="2000" b="0" i="1" dirty="0">
                <a:latin typeface="Times New Roman" panose="02020603050405020304" pitchFamily="18" charset="0"/>
                <a:cs typeface="宋体" panose="02010600030101010101" pitchFamily="2" charset="-122"/>
              </a:rPr>
              <a:t>个省，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zh-CN" altLang="en-US" sz="2000" b="0" i="1" dirty="0">
                <a:latin typeface="Times New Roman" panose="02020603050405020304" pitchFamily="18" charset="0"/>
                <a:cs typeface="宋体" panose="02010600030101010101" pitchFamily="2" charset="-122"/>
              </a:rPr>
              <a:t>个自治区</a:t>
            </a:r>
            <a:endParaRPr lang="en-US" altLang="zh-CN" sz="2000" b="0" i="1" dirty="0"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altLang="zh-C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echarts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-china-provinces-</a:t>
            </a:r>
            <a:r>
              <a:rPr lang="en-US" altLang="zh-C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pypkg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0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zh-C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中国市级地图</a:t>
            </a:r>
            <a:r>
              <a:rPr lang="zh-CN" altLang="en-US" sz="2000" b="0" i="1" dirty="0" smtClean="0">
                <a:latin typeface="Times New Roman" panose="02020603050405020304" pitchFamily="18" charset="0"/>
                <a:cs typeface="宋体" panose="02010600030101010101" pitchFamily="2" charset="-122"/>
              </a:rPr>
              <a:t>，</a:t>
            </a:r>
            <a:r>
              <a:rPr lang="zh-CN" altLang="en-US" sz="2000" b="0" i="1" dirty="0">
                <a:latin typeface="Times New Roman" panose="02020603050405020304" pitchFamily="18" charset="0"/>
                <a:cs typeface="宋体" panose="02010600030101010101" pitchFamily="2" charset="-122"/>
              </a:rPr>
              <a:t>包括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370 </a:t>
            </a:r>
            <a:r>
              <a:rPr lang="zh-CN" altLang="en-US" sz="2000" b="0" i="1" dirty="0">
                <a:latin typeface="Times New Roman" panose="02020603050405020304" pitchFamily="18" charset="0"/>
                <a:cs typeface="宋体" panose="02010600030101010101" pitchFamily="2" charset="-122"/>
              </a:rPr>
              <a:t>个中国城市</a:t>
            </a:r>
            <a:endParaRPr lang="en-US" altLang="zh-CN" sz="2000" b="0" i="1" dirty="0">
              <a:latin typeface="Times New Roman" panose="02020603050405020304" pitchFamily="18" charset="0"/>
              <a:cs typeface="宋体" panose="02010600030101010101" pitchFamily="2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pip install </a:t>
            </a:r>
            <a:r>
              <a:rPr lang="en-US" altLang="zh-CN" sz="2000" b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echarts</a:t>
            </a:r>
            <a:r>
              <a: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-china-cities-</a:t>
            </a:r>
            <a:r>
              <a:rPr lang="en-US" altLang="zh-CN" sz="2000" b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pypkg</a:t>
            </a:r>
            <a:r>
              <a: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000" b="0" dirty="0"/>
          </a:p>
        </p:txBody>
      </p:sp>
    </p:spTree>
    <p:extLst>
      <p:ext uri="{BB962C8B-B14F-4D97-AF65-F5344CB8AC3E}">
        <p14:creationId xmlns:p14="http://schemas.microsoft.com/office/powerpoint/2010/main" val="323179214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en-US" altLang="zh-CN" dirty="0" err="1"/>
              <a:t>pyecharts</a:t>
            </a:r>
            <a:r>
              <a:rPr lang="zh-CN" altLang="zh-CN" dirty="0"/>
              <a:t>常用图表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22</a:t>
            </a:fld>
            <a:endParaRPr lang="en-US" altLang="zh-CN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775520" y="997496"/>
            <a:ext cx="77403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/>
              <a:t>8 </a:t>
            </a:r>
            <a:r>
              <a:rPr lang="zh-CN" altLang="en-US" sz="2000" dirty="0"/>
              <a:t>地图</a:t>
            </a:r>
            <a:endParaRPr lang="zh-CN" altLang="zh-CN" sz="2000" dirty="0"/>
          </a:p>
          <a:p>
            <a:pPr algn="l"/>
            <a:endParaRPr lang="en-US" altLang="zh-CN" sz="2000" b="0" dirty="0" err="1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03512" y="1322939"/>
            <a:ext cx="6912768" cy="5078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9924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indent="304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zh-CN" sz="2000" b="0" dirty="0"/>
              <a:t>【例</a:t>
            </a:r>
            <a:r>
              <a:rPr lang="en-US" altLang="zh-CN" sz="2000" b="0" dirty="0"/>
              <a:t>8-13</a:t>
            </a:r>
            <a:r>
              <a:rPr lang="zh-CN" altLang="zh-CN" sz="2000" b="0" dirty="0"/>
              <a:t>】在指定地图上的城市标示某天最高温度。</a:t>
            </a:r>
            <a:endParaRPr lang="en-US" altLang="zh-CN" sz="2000" b="0" dirty="0"/>
          </a:p>
        </p:txBody>
      </p:sp>
      <p:sp>
        <p:nvSpPr>
          <p:cNvPr id="2" name="矩形 1"/>
          <p:cNvSpPr/>
          <p:nvPr/>
        </p:nvSpPr>
        <p:spPr>
          <a:xfrm>
            <a:off x="1991544" y="1830770"/>
            <a:ext cx="823183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from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pyecharts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import options as opts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5400"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from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pyecharts.charts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import Map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5400"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temperature=[30,31,27,29,18]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5400"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loc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= ['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兰州市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','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天水市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','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白银市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','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武威市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','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甘南藏族自治州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']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5400"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 =  Map()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c.add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甘肃省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", [list(z) for z in zip(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loc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temperature)], 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甘肃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",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is_roam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=True) 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#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is_roam</a:t>
            </a:r>
            <a:r>
              <a:rPr lang="zh-CN" altLang="zh-CN" i="1" kern="0" dirty="0">
                <a:latin typeface="Courier"/>
                <a:ea typeface="宋体" panose="02010600030101010101" pitchFamily="2" charset="-122"/>
                <a:cs typeface="宋体" panose="02010600030101010101" pitchFamily="2" charset="-122"/>
              </a:rPr>
              <a:t>是否开启鼠标缩放和平移漫游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5400" algn="l">
              <a:lnSpc>
                <a:spcPct val="125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 .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set_global_opts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title_opts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opts.TitleOpts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(title="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甘肃省部分城市最高气温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"))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c.render_notebook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endParaRPr lang="zh-CN" altLang="en-US" dirty="0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524000" y="5138527"/>
            <a:ext cx="6912768" cy="5078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9924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indent="304800"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en-US" altLang="zh-CN" sz="2000" b="0" dirty="0"/>
              <a:t> </a:t>
            </a:r>
            <a:r>
              <a:rPr lang="zh-CN" altLang="en-US" sz="2000" b="0" dirty="0"/>
              <a:t>运行结果</a:t>
            </a:r>
            <a:endParaRPr lang="en-US" altLang="zh-CN" sz="2000" b="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064" y="4581128"/>
            <a:ext cx="3180952" cy="224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355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本章小结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1544" y="1124744"/>
            <a:ext cx="8219256" cy="3168352"/>
          </a:xfrm>
        </p:spPr>
        <p:txBody>
          <a:bodyPr>
            <a:noAutofit/>
          </a:bodyPr>
          <a:lstStyle/>
          <a:p>
            <a:r>
              <a:rPr lang="zh-CN" altLang="zh-CN" sz="2400" dirty="0"/>
              <a:t>本章介绍了</a:t>
            </a:r>
            <a:r>
              <a:rPr lang="en-US" altLang="zh-CN" sz="2400" dirty="0" err="1"/>
              <a:t>pyecharts</a:t>
            </a:r>
            <a:r>
              <a:rPr lang="zh-CN" altLang="zh-CN" sz="2400" dirty="0"/>
              <a:t>可视化中的主要绘图绘制，包括</a:t>
            </a:r>
            <a:r>
              <a:rPr lang="en-US" altLang="zh-CN" sz="2400" dirty="0" err="1"/>
              <a:t>pyecharts</a:t>
            </a:r>
            <a:r>
              <a:rPr lang="zh-CN" altLang="zh-CN" sz="2400" dirty="0"/>
              <a:t>的安装与导入、绘图主要过程以及柱状图、饼图、</a:t>
            </a:r>
            <a:r>
              <a:rPr lang="en-US" altLang="zh-CN" sz="2400" dirty="0"/>
              <a:t>K</a:t>
            </a:r>
            <a:r>
              <a:rPr lang="zh-CN" altLang="zh-CN" sz="2400" dirty="0"/>
              <a:t>线图、仪表盘、词云、地图及组合图表的绘制方法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本章实训</a:t>
            </a:r>
            <a:endParaRPr lang="zh-CN" altLang="en-US" sz="240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46E0EEA7-FF2C-4F98-A19E-422254652B91}" type="datetime3">
              <a:rPr lang="zh-CN" altLang="en-US" smtClean="0"/>
              <a:pPr/>
              <a:t>2022年4月4日星期一</a:t>
            </a:fld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950BD6B0-76F7-4942-8BD6-FCF18CBA2D80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268051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iwysi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B64D6778-A39D-480E-9FE8-2C061CC70E63}" vid="{6C38E51D-5D34-47C3-A780-B22DF2CA2AE2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数据分析与可视化模板</Template>
  <TotalTime>730</TotalTime>
  <Words>1902</Words>
  <Application>Microsoft Office PowerPoint</Application>
  <PresentationFormat>宽屏</PresentationFormat>
  <Paragraphs>275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Courier</vt:lpstr>
      <vt:lpstr>华文中宋</vt:lpstr>
      <vt:lpstr>宋体</vt:lpstr>
      <vt:lpstr>Arial</vt:lpstr>
      <vt:lpstr>Calibri</vt:lpstr>
      <vt:lpstr>Cambria</vt:lpstr>
      <vt:lpstr>Times New Roman</vt:lpstr>
      <vt:lpstr>Verdana</vt:lpstr>
      <vt:lpstr>Wingdings</vt:lpstr>
      <vt:lpstr>weiwysim</vt:lpstr>
      <vt:lpstr>Python数据分析与可视化</vt:lpstr>
      <vt:lpstr>第 8 章 pyecharts可视化</vt:lpstr>
      <vt:lpstr>8.2 pyecharts的使用方法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8.3 pyecharts常用图表</vt:lpstr>
      <vt:lpstr>本章小结</vt:lpstr>
    </vt:vector>
  </TitlesOfParts>
  <Company>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USER-</dc:creator>
  <cp:lastModifiedBy>lenovo</cp:lastModifiedBy>
  <cp:revision>81</cp:revision>
  <dcterms:created xsi:type="dcterms:W3CDTF">2019-11-26T08:15:08Z</dcterms:created>
  <dcterms:modified xsi:type="dcterms:W3CDTF">2022-04-04T10:28:36Z</dcterms:modified>
</cp:coreProperties>
</file>